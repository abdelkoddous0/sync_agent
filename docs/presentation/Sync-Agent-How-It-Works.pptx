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Sync Agent is a small Windows tray application that keeps one local folder and one Amazon S3 location in sync in both directions. In this talk: the problem it solves, how a user installs it, how it works inside, and the safety rules that make it trustworthy.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pain points: manual copying is unreliable; simple sync tools pick winners by timestamp or mirror deletions, which loses data; and AWS tooling is too technical for most office users.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 headline features. Emphasize that it is two-way but conservative, and that the whole experience is designed so that a non-technical user can install and run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single installer file contains the whole application. It shows a plan, installs into the user profile with staging and rollback, checks for the AWS CLI (offering a verified download), and opens the setup wizard. It also adds a Start Menu shortcut and an Installed apps entry.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wizard has four short steps. Every answer is validated immediately: a wrong bucket name or a relative folder path is reported and only that question is asked again. Access keys are verified against AWS before saving. A final review table shows everything before any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Sync Agent does not create AWS infrastructure. It selects a credential source. Access keys are the simplest; SSO is recommended where available. Background sync never opens a browser; when an SSO session expires the user signs in again from the tray menu.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File changes, a periodic poll of S3 and the Sync now button only request work. A scheduler merges bursts (debounce) so saving a document ten times becomes one upload. A single worker does all reading, writing and transfers, so passes never overlap. The baseline records what both sides looked like after the last successful sync; it is the key to telling new, changed and deleted apart. Transfers use boto3 directly with conditional requests, not aws s3 sync.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pass follows the same five steps. Hashing is cached by size, modification time and file ID, but recently modified files are always re-read, and every transfer re-checks the full content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heart of the tool. Each side is compared with the baseline, not with each other. One-sided changes are copied. Both-sided changes become conflicts: nothing is overwritten, the user keeps the version they want. Deletions are remembered rather than propagated unless the user opts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risky operation has a guard, and when a guard trips the operation is reported, never retried in a less safe way. Stopping the agent is cooperative: no process is ever force-killed.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Users rarely need anything but the tray icon. Show status lists the last pass, any conflicts and all settings. Reconfigure changes one group of settings at a time and restarts the agent safely.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settings are validated before anything is saved. The full reference with every allowed value is in docs/configuration.md. Changing the folder, bucket or prefix starts a fresh sync history, so the next pass treats files on both sides as conflicts rather than overwriting.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Administrators can ship SyncAgentSetup.exe with a SyncAgent.config.json next to it. With --yes the installer asks nothing: it installs, validates and applies the settings, and starts the agent. Invalid settings are rejected before the running agent is touched.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Upgrades copy the new version to a staging folder and test it before the old one is touched. The running agent is asked to stop; it is never killed. If anything fails, the old version is restored. Uninstall is available from Windows Settings and never deletes user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build runs 211 automated tests and refuses to package on failure. A one-command acceptance script installs, starts, stops, upgrades and uninstalls the real installer in throwaway folders: 20 of 20 checks pass on Windows 11, and the same command is ready for Windows 10. Code signing is wired into the build and CI and was proven with a test certificate; it needs a real certificate. The live S3 end-to-end test is written and self-cleaning, and needs a valid AWS test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 the four takeaways, then the concrete next steps before a wider rollout. Open for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B1F3A"/>
            </a:gs>
            <a:gs pos="100000">
              <a:srgbClr val="0E3A6B"/>
            </a:gs>
          </a:gsLst>
          <a:lin scaled="0" ang="13500000"/>
        </a:gra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148840"/>
            <a:ext cx="1463040" cy="14630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06040" y="2011680"/>
            <a:ext cx="8686800" cy="10058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6000" b="0">
                <a:solidFill>
                  <a:srgbClr val="FFFFFF"/>
                </a:solidFill>
                <a:latin typeface="Segoe UI Semibold"/>
              </a:rPr>
              <a:t>Sync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51760" y="3017520"/>
            <a:ext cx="8686800" cy="6400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400" b="0">
                <a:solidFill>
                  <a:srgbClr val="A5F3FC"/>
                </a:solidFill>
                <a:latin typeface="Segoe UI"/>
              </a:rPr>
              <a:t>Keep a Windows folder in sync with Amazon S3, safely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3703320"/>
            <a:ext cx="868680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CBD5E1"/>
                </a:solidFill>
                <a:latin typeface="Segoe UI"/>
              </a:rPr>
              <a:t>How it works · How to install it · Why it is safe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5806440"/>
            <a:ext cx="10424160" cy="1828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5943600"/>
            <a:ext cx="1042416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Segoe UI"/>
              </a:rPr>
              <a:t>Windows 10 / 11   ·   Amazon S3   ·   github.com/Abdelkoddous0/sync_agent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82296" cy="566928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789920" cy="68580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3000" b="0">
                <a:solidFill>
                  <a:srgbClr val="0F172A"/>
                </a:solidFill>
                <a:latin typeface="Segoe UI Semibold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24128"/>
            <a:ext cx="1078992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475569"/>
                </a:solidFill>
                <a:latin typeface="Segoe UI"/>
              </a:rPr>
              <a:t>Files are created on PCs, but they need to live safely in the cloud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>
                <a:solidFill>
                  <a:srgbClr val="94A3B8"/>
                </a:solidFill>
                <a:latin typeface="Segoe UI"/>
              </a:rPr>
              <a:t>Sync Agent — How it works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5912" y="6400800"/>
            <a:ext cx="914400" cy="3200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1000" b="0">
                <a:solidFill>
                  <a:srgbClr val="94A3B8"/>
                </a:solidFill>
                <a:latin typeface="Segoe UI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83080"/>
            <a:ext cx="3566160" cy="29260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783080"/>
            <a:ext cx="3566160" cy="1097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3108960" cy="5486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000" b="0">
                <a:solidFill>
                  <a:srgbClr val="0F172A"/>
                </a:solidFill>
                <a:latin typeface="Segoe UI Semibold"/>
              </a:rPr>
              <a:t>Files live on PCs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43200"/>
            <a:ext cx="3108960" cy="18288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 b="0">
                <a:solidFill>
                  <a:srgbClr val="475569"/>
                </a:solidFill>
                <a:latin typeface="Segoe UI"/>
              </a:rPr>
              <a:t>Scans, reports and exports are saved locally. Copying them to S3 by hand is slow and forgotten.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79" y="1783080"/>
            <a:ext cx="3566160" cy="29260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97679" y="1783080"/>
            <a:ext cx="3566160" cy="109728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79" y="2103120"/>
            <a:ext cx="3108960" cy="5486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000" b="0">
                <a:solidFill>
                  <a:srgbClr val="0F172A"/>
                </a:solidFill>
                <a:latin typeface="Segoe UI Semibold"/>
              </a:rPr>
              <a:t>Naive sync loses 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79" y="2743200"/>
            <a:ext cx="3108960" cy="18288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 b="0">
                <a:solidFill>
                  <a:srgbClr val="475569"/>
                </a:solidFill>
                <a:latin typeface="Segoe UI"/>
              </a:rPr>
              <a:t>“Newest wins” overwrites a colleague’s edit. A mirror tool deletes files everywhere after one mistake.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19" y="1783080"/>
            <a:ext cx="3566160" cy="29260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19" y="1783080"/>
            <a:ext cx="3566160" cy="109728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75319" y="2103120"/>
            <a:ext cx="3108960" cy="5486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000" b="0">
                <a:solidFill>
                  <a:srgbClr val="0F172A"/>
                </a:solidFill>
                <a:latin typeface="Segoe UI Semibold"/>
              </a:rPr>
              <a:t>AWS setup is technical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19" y="2743200"/>
            <a:ext cx="3108960" cy="18288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 b="0">
                <a:solidFill>
                  <a:srgbClr val="475569"/>
                </a:solidFill>
                <a:latin typeface="Segoe UI"/>
              </a:rPr>
              <a:t>AWS CLI commands, profiles and credentials are a barrier for non-technical users.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5074920"/>
            <a:ext cx="11064240" cy="960120"/>
          </a:xfrm>
          <a:prstGeom prst="roundRect">
            <a:avLst>
              <a:gd name="adj" fmla="val 12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000" b="0">
                <a:solidFill>
                  <a:srgbClr val="A5F3FC"/>
                </a:solidFill>
                <a:latin typeface="Segoe UI Semibold"/>
              </a:rPr>
              <a:t>Sync Agent: </a:t>
            </a:r>
            <a:r>
              <a:rPr sz="2000" b="0">
                <a:solidFill>
                  <a:srgbClr val="FFFFFF"/>
                </a:solidFill>
                <a:latin typeface="Segoe UI"/>
              </a:rPr>
              <a:t>a cautious two-way sync that anyone can install in a minute.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82296" cy="566928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789920" cy="68580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3000" b="0">
                <a:solidFill>
                  <a:srgbClr val="0F172A"/>
                </a:solidFill>
                <a:latin typeface="Segoe UI Semibold"/>
              </a:rPr>
              <a:t>What Sync Agent does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24128"/>
            <a:ext cx="1078992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475569"/>
                </a:solidFill>
                <a:latin typeface="Segoe UI"/>
              </a:rPr>
              <a:t>One Windows program, one folder, one S3 location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>
                <a:solidFill>
                  <a:srgbClr val="94A3B8"/>
                </a:solidFill>
                <a:latin typeface="Segoe UI"/>
              </a:rPr>
              <a:t>Sync Agent — How it works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5912" y="6400800"/>
            <a:ext cx="914400" cy="3200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1000" b="0">
                <a:solidFill>
                  <a:srgbClr val="94A3B8"/>
                </a:solidFill>
                <a:latin typeface="Segoe UI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356616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22959" y="2011679"/>
            <a:ext cx="548640" cy="54864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2029967"/>
            <a:ext cx="2514600" cy="54864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0F172A"/>
                </a:solidFill>
                <a:latin typeface="Segoe UI Semibold"/>
              </a:rPr>
              <a:t>Two-way sync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697480"/>
            <a:ext cx="3108960" cy="10058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475569"/>
                </a:solidFill>
                <a:latin typeface="Segoe UI"/>
              </a:rPr>
              <a:t>New and changed files go up to S3 and come down from S3 automatically.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79" y="1737360"/>
            <a:ext cx="356616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571999" y="2011679"/>
            <a:ext cx="548640" cy="54864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57799" y="2029967"/>
            <a:ext cx="2514600" cy="54864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0F172A"/>
                </a:solidFill>
                <a:latin typeface="Segoe UI Semibold"/>
              </a:rPr>
              <a:t>Safe by design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3712" y="2697480"/>
            <a:ext cx="3108960" cy="10058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475569"/>
                </a:solidFill>
                <a:latin typeface="Segoe UI"/>
              </a:rPr>
              <a:t>Never overwrites a file changed on both sides; deletions are off by default.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19" y="1737360"/>
            <a:ext cx="356616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21040" y="2011679"/>
            <a:ext cx="548640" cy="54864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06840" y="2029967"/>
            <a:ext cx="2514600" cy="54864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0F172A"/>
                </a:solidFill>
                <a:latin typeface="Segoe UI Semibold"/>
              </a:rPr>
              <a:t>One-file installer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02751" y="2697480"/>
            <a:ext cx="3108960" cy="10058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475569"/>
                </a:solidFill>
                <a:latin typeface="Segoe UI"/>
              </a:rPr>
              <a:t>Double-click SyncAgentSetup.exe, answer four questions, done. No admin rights.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977639"/>
            <a:ext cx="356616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22959" y="4251959"/>
            <a:ext cx="548640" cy="54864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4270248"/>
            <a:ext cx="2514600" cy="54864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0F172A"/>
                </a:solidFill>
                <a:latin typeface="Segoe UI Semibold"/>
              </a:rPr>
              <a:t>Lives in the tray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" y="4937759"/>
            <a:ext cx="3108960" cy="10058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475569"/>
                </a:solidFill>
                <a:latin typeface="Segoe UI"/>
              </a:rPr>
              <a:t>No windows to manage. The icon shows syncing (amber) or problems (red).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79" y="3977639"/>
            <a:ext cx="356616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571999" y="4251959"/>
            <a:ext cx="548640" cy="54864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Segoe UI Semibold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57799" y="4270248"/>
            <a:ext cx="2514600" cy="54864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0F172A"/>
                </a:solidFill>
                <a:latin typeface="Segoe UI Semibold"/>
              </a:rPr>
              <a:t>Flexible AWS sign-in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53712" y="4937759"/>
            <a:ext cx="3108960" cy="10058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475569"/>
                </a:solidFill>
                <a:latin typeface="Segoe UI"/>
              </a:rPr>
              <a:t>Access keys, company SSO, Roles Anywhere, existing profiles or workload roles.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19" y="3977639"/>
            <a:ext cx="356616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321040" y="4251959"/>
            <a:ext cx="548640" cy="54864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Segoe UI Semibold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06840" y="4270248"/>
            <a:ext cx="2514600" cy="54864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0F172A"/>
                </a:solidFill>
                <a:latin typeface="Segoe UI Semibold"/>
              </a:rPr>
              <a:t>Easy to roll out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02751" y="4937759"/>
            <a:ext cx="3108960" cy="10058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475569"/>
                </a:solidFill>
                <a:latin typeface="Segoe UI"/>
              </a:rPr>
              <a:t>One prepared settings file next to the installer sets up many PCs.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82296" cy="566928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789920" cy="68580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3000" b="0">
                <a:solidFill>
                  <a:srgbClr val="0F172A"/>
                </a:solidFill>
                <a:latin typeface="Segoe UI Semibold"/>
              </a:rPr>
              <a:t>Installing it takes about a minute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24128"/>
            <a:ext cx="1078992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475569"/>
                </a:solidFill>
                <a:latin typeface="Segoe UI"/>
              </a:rPr>
              <a:t>Per user · no administrator rights · no Python needed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>
                <a:solidFill>
                  <a:srgbClr val="94A3B8"/>
                </a:solidFill>
                <a:latin typeface="Segoe UI"/>
              </a:rPr>
              <a:t>Sync Agent — How it works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5912" y="6400800"/>
            <a:ext cx="914400" cy="3200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1000" b="0">
                <a:solidFill>
                  <a:srgbClr val="94A3B8"/>
                </a:solidFill>
                <a:latin typeface="Segoe UI"/>
              </a:rPr>
              <a:t>4</a:t>
            </a:r>
          </a:p>
        </p:txBody>
      </p:sp>
      <p:sp>
        <p:nvSpPr>
          <p:cNvPr id="7" name="Pentagon 6"/>
          <p:cNvSpPr/>
          <p:nvPr/>
        </p:nvSpPr>
        <p:spPr>
          <a:xfrm>
            <a:off x="548640" y="1691640"/>
            <a:ext cx="2291486" cy="868680"/>
          </a:xfrm>
          <a:prstGeom prst="homePlat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201168" tIns="36576" bIns="36576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Double-click installer</a:t>
            </a:r>
          </a:p>
        </p:txBody>
      </p:sp>
      <p:sp>
        <p:nvSpPr>
          <p:cNvPr id="8" name="Chevron 7"/>
          <p:cNvSpPr/>
          <p:nvPr/>
        </p:nvSpPr>
        <p:spPr>
          <a:xfrm>
            <a:off x="2693822" y="1691640"/>
            <a:ext cx="2291486" cy="868680"/>
          </a:xfrm>
          <a:prstGeom prst="chevron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4048" rIns="201168" tIns="36576" bIns="36576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Confirm the plan</a:t>
            </a:r>
          </a:p>
        </p:txBody>
      </p:sp>
      <p:sp>
        <p:nvSpPr>
          <p:cNvPr id="9" name="Chevron 8"/>
          <p:cNvSpPr/>
          <p:nvPr/>
        </p:nvSpPr>
        <p:spPr>
          <a:xfrm>
            <a:off x="4839004" y="1691640"/>
            <a:ext cx="2291486" cy="868680"/>
          </a:xfrm>
          <a:prstGeom prst="chevron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4048" rIns="201168" tIns="36576" bIns="36576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AWS CLI check</a:t>
            </a:r>
          </a:p>
        </p:txBody>
      </p:sp>
      <p:sp>
        <p:nvSpPr>
          <p:cNvPr id="10" name="Chevron 9"/>
          <p:cNvSpPr/>
          <p:nvPr/>
        </p:nvSpPr>
        <p:spPr>
          <a:xfrm>
            <a:off x="6984187" y="1691640"/>
            <a:ext cx="2291486" cy="868680"/>
          </a:xfrm>
          <a:prstGeom prst="chevron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4048" rIns="201168" tIns="36576" bIns="36576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4-step wizard</a:t>
            </a:r>
          </a:p>
        </p:txBody>
      </p:sp>
      <p:sp>
        <p:nvSpPr>
          <p:cNvPr id="11" name="Chevron 10"/>
          <p:cNvSpPr/>
          <p:nvPr/>
        </p:nvSpPr>
        <p:spPr>
          <a:xfrm>
            <a:off x="9129369" y="1691640"/>
            <a:ext cx="2291486" cy="868680"/>
          </a:xfrm>
          <a:prstGeom prst="chevron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4048" rIns="201168" tIns="36576" bIns="36576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Running in tray</a:t>
            </a:r>
          </a:p>
        </p:txBody>
      </p:sp>
      <p:pic>
        <p:nvPicPr>
          <p:cNvPr id="12" name="Picture 11" descr="install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926080"/>
            <a:ext cx="7659074" cy="3246120"/>
          </a:xfrm>
          <a:prstGeom prst="rect">
            <a:avLst/>
          </a:prstGeom>
          <a:ln w="12700">
            <a:solidFill>
              <a:srgbClr val="CBD5E1"/>
            </a:solidFill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82296" cy="566928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789920" cy="68580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3000" b="0">
                <a:solidFill>
                  <a:srgbClr val="0F172A"/>
                </a:solidFill>
                <a:latin typeface="Segoe UI Semibold"/>
              </a:rPr>
              <a:t>A guided setup in four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24128"/>
            <a:ext cx="1078992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475569"/>
                </a:solidFill>
                <a:latin typeface="Segoe UI"/>
              </a:rPr>
              <a:t>Defaults are pre-filled; a typo only re-asks that one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>
                <a:solidFill>
                  <a:srgbClr val="94A3B8"/>
                </a:solidFill>
                <a:latin typeface="Segoe UI"/>
              </a:rPr>
              <a:t>Sync Agent — How it works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5912" y="6400800"/>
            <a:ext cx="914400" cy="3200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1000" b="0">
                <a:solidFill>
                  <a:srgbClr val="94A3B8"/>
                </a:solidFill>
                <a:latin typeface="Segoe UI"/>
              </a:rP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00200"/>
            <a:ext cx="2651760" cy="13716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13232" y="1737360"/>
            <a:ext cx="438912" cy="438912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719072"/>
            <a:ext cx="1920240" cy="45720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0F172A"/>
                </a:solidFill>
                <a:latin typeface="Segoe UI Semibold"/>
              </a:rPr>
              <a:t>Identity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240280"/>
            <a:ext cx="2423160" cy="7315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>
                <a:solidFill>
                  <a:srgbClr val="475569"/>
                </a:solidFill>
                <a:latin typeface="Segoe UI"/>
              </a:rPr>
              <a:t>Computer name, used for logs and the suggested S3 location.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46704" y="1600200"/>
            <a:ext cx="2651760" cy="13716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511296" y="1737360"/>
            <a:ext cx="438912" cy="438912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32504" y="1719072"/>
            <a:ext cx="1920240" cy="45720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0F172A"/>
                </a:solidFill>
                <a:latin typeface="Segoe UI Semibold"/>
              </a:rPr>
              <a:t>AWS sign-in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83864" y="2240280"/>
            <a:ext cx="2423160" cy="7315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>
                <a:solidFill>
                  <a:srgbClr val="475569"/>
                </a:solidFill>
                <a:latin typeface="Segoe UI"/>
              </a:rPr>
              <a:t>Region and method: access keys, SSO, Roles Anywhere, profile or workload.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44768" y="1600200"/>
            <a:ext cx="2651760" cy="13716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309359" y="1737360"/>
            <a:ext cx="438912" cy="438912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30568" y="1719072"/>
            <a:ext cx="1920240" cy="45720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0F172A"/>
                </a:solidFill>
                <a:latin typeface="Segoe UI Semibold"/>
              </a:rPr>
              <a:t>Folders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81928" y="2240280"/>
            <a:ext cx="2423160" cy="7315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>
                <a:solidFill>
                  <a:srgbClr val="475569"/>
                </a:solidFill>
                <a:latin typeface="Segoe UI"/>
              </a:rPr>
              <a:t>Local folder (created for you), bucket name and prefix inside the bucket.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42832" y="1600200"/>
            <a:ext cx="2651760" cy="13716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107424" y="1737360"/>
            <a:ext cx="438912" cy="438912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28632" y="1719072"/>
            <a:ext cx="1920240" cy="45720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0F172A"/>
                </a:solidFill>
                <a:latin typeface="Segoe UI Semibold"/>
              </a:rPr>
              <a:t>Sync options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79992" y="2240280"/>
            <a:ext cx="2423160" cy="7315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>
                <a:solidFill>
                  <a:srgbClr val="475569"/>
                </a:solidFill>
                <a:latin typeface="Segoe UI"/>
              </a:rPr>
              <a:t>Timers, downloads on/off, deletions (off), exclusions, start at login.</a:t>
            </a:r>
          </a:p>
        </p:txBody>
      </p:sp>
      <p:pic>
        <p:nvPicPr>
          <p:cNvPr id="23" name="Picture 22" descr="wizard-ste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200400"/>
            <a:ext cx="6675120" cy="3060434"/>
          </a:xfrm>
          <a:prstGeom prst="rect">
            <a:avLst/>
          </a:prstGeom>
          <a:ln w="12700">
            <a:solidFill>
              <a:srgbClr val="CBD5E1"/>
            </a:solidFill>
          </a:ln>
        </p:spPr>
      </p:pic>
      <p:pic>
        <p:nvPicPr>
          <p:cNvPr id="24" name="Picture 23" descr="wizard-re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5240" y="3200400"/>
            <a:ext cx="3977639" cy="2295553"/>
          </a:xfrm>
          <a:prstGeom prst="rect">
            <a:avLst/>
          </a:prstGeom>
          <a:ln w="12700">
            <a:solidFill>
              <a:srgbClr val="CBD5E1"/>
            </a:solidFill>
          </a:ln>
        </p:spPr>
      </p:pic>
      <p:sp>
        <p:nvSpPr>
          <p:cNvPr id="25" name="Rounded Rectangle 24"/>
          <p:cNvSpPr/>
          <p:nvPr/>
        </p:nvSpPr>
        <p:spPr>
          <a:xfrm>
            <a:off x="7635240" y="5623560"/>
            <a:ext cx="3977639" cy="548640"/>
          </a:xfrm>
          <a:prstGeom prst="roundRect">
            <a:avLst>
              <a:gd name="adj" fmla="val 30000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5803D"/>
                </a:solidFill>
                <a:latin typeface="Segoe UI Semibold"/>
              </a:rPr>
              <a:t>Nothing is saved until you confirm this review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82296" cy="566928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789920" cy="68580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3000" b="0">
                <a:solidFill>
                  <a:srgbClr val="0F172A"/>
                </a:solidFill>
                <a:latin typeface="Segoe UI Semibold"/>
              </a:rPr>
              <a:t>Five ways to sign in to AWS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24128"/>
            <a:ext cx="1078992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475569"/>
                </a:solidFill>
                <a:latin typeface="Segoe UI"/>
              </a:rPr>
              <a:t>Use whatever your organization already has; credentials never go in the settings file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>
                <a:solidFill>
                  <a:srgbClr val="94A3B8"/>
                </a:solidFill>
                <a:latin typeface="Segoe UI"/>
              </a:rPr>
              <a:t>Sync Agent — How it works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5912" y="6400800"/>
            <a:ext cx="914400" cy="3200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1000" b="0">
                <a:solidFill>
                  <a:srgbClr val="94A3B8"/>
                </a:solidFill>
                <a:latin typeface="Segoe UI"/>
              </a:rPr>
              <a:t>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737360"/>
          <a:ext cx="1106424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3931920"/>
                <a:gridCol w="4663440"/>
              </a:tblGrid>
              <a:tr h="655320">
                <a:tc>
                  <a:txBody>
                    <a:bodyPr wrap="square" anchor="ctr" lIns="73152" rIns="73152" tIns="36576" bIns="36576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FFFFFF"/>
                          </a:solidFill>
                          <a:latin typeface="Segoe UI Semibold"/>
                        </a:rPr>
                        <a:t>Method</a:t>
                      </a:r>
                    </a:p>
                  </a:txBody>
                  <a:tcPr marL="137160" marR="137160">
                    <a:solidFill>
                      <a:srgbClr val="2563EB"/>
                    </a:solidFill>
                  </a:tcPr>
                </a:tc>
                <a:tc>
                  <a:txBody>
                    <a:bodyPr wrap="square" anchor="ctr" lIns="73152" rIns="73152" tIns="36576" bIns="36576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FFFFFF"/>
                          </a:solidFill>
                          <a:latin typeface="Segoe UI Semibold"/>
                        </a:rPr>
                        <a:t>Use it when</a:t>
                      </a:r>
                    </a:p>
                  </a:txBody>
                  <a:tcPr marL="137160" marR="137160">
                    <a:solidFill>
                      <a:srgbClr val="2563EB"/>
                    </a:solidFill>
                  </a:tcPr>
                </a:tc>
                <a:tc>
                  <a:txBody>
                    <a:bodyPr wrap="square" anchor="ctr" lIns="73152" rIns="73152" tIns="36576" bIns="36576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FFFFFF"/>
                          </a:solidFill>
                          <a:latin typeface="Segoe UI Semibold"/>
                        </a:rPr>
                        <a:t>You provide</a:t>
                      </a:r>
                    </a:p>
                  </a:txBody>
                  <a:tcPr marL="137160" marR="137160">
                    <a:solidFill>
                      <a:srgbClr val="2563EB"/>
                    </a:solidFill>
                  </a:tcPr>
                </a:tc>
              </a:tr>
              <a:tr h="655320">
                <a:tc>
                  <a:txBody>
                    <a:bodyPr wrap="square" anchor="ctr" lIns="73152" rIns="73152" tIns="36576" bIns="36576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0F172A"/>
                          </a:solidFill>
                          <a:latin typeface="Segoe UI Semibold"/>
                        </a:rPr>
                        <a:t>1 · Access keys</a:t>
                      </a:r>
                    </a:p>
                  </a:txBody>
                  <a:tcPr marL="137160" marR="137160">
                    <a:solidFill>
                      <a:srgbClr val="F1F5F9"/>
                    </a:solidFill>
                  </a:tcPr>
                </a:tc>
                <a:tc>
                  <a:txBody>
                    <a:bodyPr wrap="square" anchor="ctr" lIns="73152" rIns="73152" tIns="36576" bIns="36576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0F172A"/>
                          </a:solidFill>
                          <a:latin typeface="Segoe UI"/>
                        </a:rPr>
                        <a:t>Small setups with a dedicated IAM user</a:t>
                      </a:r>
                    </a:p>
                  </a:txBody>
                  <a:tcPr marL="137160" marR="137160">
                    <a:solidFill>
                      <a:srgbClr val="F1F5F9"/>
                    </a:solidFill>
                  </a:tcPr>
                </a:tc>
                <a:tc>
                  <a:txBody>
                    <a:bodyPr wrap="square" anchor="ctr" lIns="73152" rIns="73152" tIns="36576" bIns="36576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0F172A"/>
                          </a:solidFill>
                          <a:latin typeface="Segoe UI"/>
                        </a:rPr>
                        <a:t>Key ID + secret (checked, then saved to the sync-agent profile)</a:t>
                      </a:r>
                    </a:p>
                  </a:txBody>
                  <a:tcPr marL="137160" marR="137160">
                    <a:solidFill>
                      <a:srgbClr val="F1F5F9"/>
                    </a:solidFill>
                  </a:tcPr>
                </a:tc>
              </a:tr>
              <a:tr h="655320">
                <a:tc>
                  <a:txBody>
                    <a:bodyPr wrap="square" anchor="ctr" lIns="73152" rIns="73152" tIns="36576" bIns="36576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0F172A"/>
                          </a:solidFill>
                          <a:latin typeface="Segoe UI Semibold"/>
                        </a:rPr>
                        <a:t>2 · Browser SSO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36576" bIns="36576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0F172A"/>
                          </a:solidFill>
                          <a:latin typeface="Segoe UI"/>
                        </a:rPr>
                        <a:t>Company uses IAM Identity Center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36576" bIns="36576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0F172A"/>
                          </a:solidFill>
                          <a:latin typeface="Segoe UI"/>
                        </a:rPr>
                        <a:t>Profile name; browser sign-in after saving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</a:tr>
              <a:tr h="655320">
                <a:tc>
                  <a:txBody>
                    <a:bodyPr wrap="square" anchor="ctr" lIns="73152" rIns="73152" tIns="36576" bIns="36576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0F172A"/>
                          </a:solidFill>
                          <a:latin typeface="Segoe UI Semibold"/>
                        </a:rPr>
                        <a:t>3 · Roles Anywhere</a:t>
                      </a:r>
                    </a:p>
                  </a:txBody>
                  <a:tcPr marL="137160" marR="137160">
                    <a:solidFill>
                      <a:srgbClr val="F1F5F9"/>
                    </a:solidFill>
                  </a:tcPr>
                </a:tc>
                <a:tc>
                  <a:txBody>
                    <a:bodyPr wrap="square" anchor="ctr" lIns="73152" rIns="73152" tIns="36576" bIns="36576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0F172A"/>
                          </a:solidFill>
                          <a:latin typeface="Segoe UI"/>
                        </a:rPr>
                        <a:t>Certificates are issued to computers</a:t>
                      </a:r>
                    </a:p>
                  </a:txBody>
                  <a:tcPr marL="137160" marR="137160">
                    <a:solidFill>
                      <a:srgbClr val="F1F5F9"/>
                    </a:solidFill>
                  </a:tcPr>
                </a:tc>
                <a:tc>
                  <a:txBody>
                    <a:bodyPr wrap="square" anchor="ctr" lIns="73152" rIns="73152" tIns="36576" bIns="36576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0F172A"/>
                          </a:solidFill>
                          <a:latin typeface="Segoe UI"/>
                        </a:rPr>
                        <a:t>Name of the administrator’s certificate profile</a:t>
                      </a:r>
                    </a:p>
                  </a:txBody>
                  <a:tcPr marL="137160" marR="137160">
                    <a:solidFill>
                      <a:srgbClr val="F1F5F9"/>
                    </a:solidFill>
                  </a:tcPr>
                </a:tc>
              </a:tr>
              <a:tr h="655320">
                <a:tc>
                  <a:txBody>
                    <a:bodyPr wrap="square" anchor="ctr" lIns="73152" rIns="73152" tIns="36576" bIns="36576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0F172A"/>
                          </a:solidFill>
                          <a:latin typeface="Segoe UI Semibold"/>
                        </a:rPr>
                        <a:t>4 · Workload chain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36576" bIns="36576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0F172A"/>
                          </a:solidFill>
                          <a:latin typeface="Segoe UI"/>
                        </a:rPr>
                        <a:t>Running inside AWS (EC2, WorkSpaces)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36576" bIns="36576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0F172A"/>
                          </a:solidFill>
                          <a:latin typeface="Segoe UI"/>
                        </a:rPr>
                        <a:t>Nothing: standard AWS SDK search order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</a:tr>
              <a:tr h="655320">
                <a:tc>
                  <a:txBody>
                    <a:bodyPr wrap="square" anchor="ctr" lIns="73152" rIns="73152" tIns="36576" bIns="36576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0F172A"/>
                          </a:solidFill>
                          <a:latin typeface="Segoe UI Semibold"/>
                        </a:rPr>
                        <a:t>5 · Other profile</a:t>
                      </a:r>
                    </a:p>
                  </a:txBody>
                  <a:tcPr marL="137160" marR="137160">
                    <a:solidFill>
                      <a:srgbClr val="F1F5F9"/>
                    </a:solidFill>
                  </a:tcPr>
                </a:tc>
                <a:tc>
                  <a:txBody>
                    <a:bodyPr wrap="square" anchor="ctr" lIns="73152" rIns="73152" tIns="36576" bIns="36576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0F172A"/>
                          </a:solidFill>
                          <a:latin typeface="Segoe UI"/>
                        </a:rPr>
                        <a:t>A named profile already exists (e.g. assume-role)</a:t>
                      </a:r>
                    </a:p>
                  </a:txBody>
                  <a:tcPr marL="137160" marR="137160">
                    <a:solidFill>
                      <a:srgbClr val="F1F5F9"/>
                    </a:solidFill>
                  </a:tcPr>
                </a:tc>
                <a:tc>
                  <a:txBody>
                    <a:bodyPr wrap="square" anchor="ctr" lIns="73152" rIns="73152" tIns="36576" bIns="36576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0F172A"/>
                          </a:solidFill>
                          <a:latin typeface="Segoe UI"/>
                        </a:rPr>
                        <a:t>Profile name</a:t>
                      </a:r>
                    </a:p>
                  </a:txBody>
                  <a:tcPr marL="137160" marR="137160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806440"/>
            <a:ext cx="1106424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475569"/>
                </a:solidFill>
                <a:latin typeface="Segoe UI"/>
              </a:rPr>
              <a:t>Least-privilege IAM policy (list, get, put on one prefix) is in docs/authentication.md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82296" cy="566928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789920" cy="68580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3000" b="0">
                <a:solidFill>
                  <a:srgbClr val="0F172A"/>
                </a:solidFill>
                <a:latin typeface="Segoe UI Semibold"/>
              </a:rPr>
              <a:t>How it works inside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24128"/>
            <a:ext cx="1078992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475569"/>
                </a:solidFill>
                <a:latin typeface="Segoe UI"/>
              </a:rPr>
              <a:t>Three triggers feed one sync worker; nothing else touches files or S3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>
                <a:solidFill>
                  <a:srgbClr val="94A3B8"/>
                </a:solidFill>
                <a:latin typeface="Segoe UI"/>
              </a:rPr>
              <a:t>Sync Agent — How it works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5912" y="6400800"/>
            <a:ext cx="914400" cy="3200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1000" b="0">
                <a:solidFill>
                  <a:srgbClr val="94A3B8"/>
                </a:solidFill>
                <a:latin typeface="Segoe UI"/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83080"/>
            <a:ext cx="2194560" cy="868680"/>
          </a:xfrm>
          <a:prstGeom prst="roundRect">
            <a:avLst>
              <a:gd name="adj" fmla="val 15000"/>
            </a:avLst>
          </a:prstGeom>
          <a:solidFill>
            <a:srgbClr val="DBEAFE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Segoe UI Semibold"/>
              </a:rPr>
              <a:t>File watcher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475569"/>
                </a:solidFill>
                <a:latin typeface="Segoe UI"/>
              </a:rPr>
              <a:t>local change seen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743200" y="2217420"/>
            <a:ext cx="548640" cy="121158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48640" y="2971800"/>
            <a:ext cx="2194560" cy="868680"/>
          </a:xfrm>
          <a:prstGeom prst="roundRect">
            <a:avLst>
              <a:gd name="adj" fmla="val 15000"/>
            </a:avLst>
          </a:prstGeom>
          <a:solidFill>
            <a:srgbClr val="DBEAFE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Segoe UI Semibold"/>
              </a:rPr>
              <a:t>Poll timer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475569"/>
                </a:solidFill>
                <a:latin typeface="Segoe UI"/>
              </a:rPr>
              <a:t>every 30 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743200" y="3406140"/>
            <a:ext cx="548640" cy="2286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48640" y="4160520"/>
            <a:ext cx="2194560" cy="868680"/>
          </a:xfrm>
          <a:prstGeom prst="roundRect">
            <a:avLst>
              <a:gd name="adj" fmla="val 15000"/>
            </a:avLst>
          </a:prstGeom>
          <a:solidFill>
            <a:srgbClr val="DBEAFE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Segoe UI Semibold"/>
              </a:rPr>
              <a:t>Sync now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475569"/>
                </a:solidFill>
                <a:latin typeface="Segoe UI"/>
              </a:rPr>
              <a:t>tray menu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2743200" y="3429000"/>
            <a:ext cx="548640" cy="1165859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291840" y="2971800"/>
            <a:ext cx="2103120" cy="914400"/>
          </a:xfrm>
          <a:prstGeom prst="roundRect">
            <a:avLst>
              <a:gd name="adj" fmla="val 15000"/>
            </a:avLst>
          </a:prstGeom>
          <a:solidFill>
            <a:srgbClr val="DBEAFE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Segoe UI Semibold"/>
              </a:rPr>
              <a:t>Scheduler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475569"/>
                </a:solidFill>
                <a:latin typeface="Segoe UI"/>
              </a:rPr>
              <a:t>debounce 5 s, merge bursts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394960" y="3429000"/>
            <a:ext cx="548640" cy="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943600" y="2697480"/>
            <a:ext cx="2651760" cy="1463040"/>
          </a:xfrm>
          <a:prstGeom prst="roundRect">
            <a:avLst>
              <a:gd name="adj" fmla="val 12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Segoe UI Semibold"/>
              </a:rPr>
              <a:t>Sync worker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DBEAFE"/>
                </a:solidFill>
                <a:latin typeface="Segoe UI"/>
              </a:rPr>
              <a:t>one pass at a time</a:t>
            </a:r>
          </a:p>
        </p:txBody>
      </p:sp>
      <p:sp>
        <p:nvSpPr>
          <p:cNvPr id="16" name="Can 15"/>
          <p:cNvSpPr/>
          <p:nvPr/>
        </p:nvSpPr>
        <p:spPr>
          <a:xfrm>
            <a:off x="9555480" y="2606040"/>
            <a:ext cx="2057400" cy="1645920"/>
          </a:xfrm>
          <a:prstGeom prst="can">
            <a:avLst/>
          </a:prstGeom>
          <a:solidFill>
            <a:srgbClr val="F1F5F9"/>
          </a:solidFill>
          <a:ln w="15875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Segoe UI Semibold"/>
              </a:rPr>
              <a:t>Amazon S3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475569"/>
                </a:solidFill>
                <a:latin typeface="Segoe UI"/>
              </a:rPr>
              <a:t>bucket / prefix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595360" y="3429000"/>
            <a:ext cx="960120" cy="0"/>
          </a:xfrm>
          <a:prstGeom prst="line">
            <a:avLst/>
          </a:prstGeom>
          <a:ln w="25400">
            <a:solidFill>
              <a:srgbClr val="475569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503920" y="2971800"/>
            <a:ext cx="1188720" cy="4114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conditional
requests</a:t>
            </a:r>
          </a:p>
        </p:txBody>
      </p:sp>
      <p:sp>
        <p:nvSpPr>
          <p:cNvPr id="19" name="Can 18"/>
          <p:cNvSpPr/>
          <p:nvPr/>
        </p:nvSpPr>
        <p:spPr>
          <a:xfrm>
            <a:off x="5669280" y="4800600"/>
            <a:ext cx="1463040" cy="1143000"/>
          </a:xfrm>
          <a:prstGeom prst="can">
            <a:avLst/>
          </a:prstGeom>
          <a:solidFill>
            <a:srgbClr val="F1F5F9"/>
          </a:solidFill>
          <a:ln w="15875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0">
                <a:solidFill>
                  <a:srgbClr val="0F172A"/>
                </a:solidFill>
                <a:latin typeface="Segoe UI Semibold"/>
              </a:rPr>
              <a:t>Local folder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your files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00800" y="4160520"/>
            <a:ext cx="0" cy="640080"/>
          </a:xfrm>
          <a:prstGeom prst="line">
            <a:avLst/>
          </a:prstGeom>
          <a:ln w="25400">
            <a:solidFill>
              <a:srgbClr val="475569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Can 20"/>
          <p:cNvSpPr/>
          <p:nvPr/>
        </p:nvSpPr>
        <p:spPr>
          <a:xfrm>
            <a:off x="7269480" y="4800600"/>
            <a:ext cx="1463040" cy="1143000"/>
          </a:xfrm>
          <a:prstGeom prst="can">
            <a:avLst/>
          </a:prstGeom>
          <a:solidFill>
            <a:srgbClr val="F1F5F9"/>
          </a:solidFill>
          <a:ln w="15875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0">
                <a:solidFill>
                  <a:srgbClr val="0F172A"/>
                </a:solidFill>
                <a:latin typeface="Segoe UI Semibold"/>
              </a:rPr>
              <a:t>Baseline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last synced state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001000" y="4160520"/>
            <a:ext cx="0" cy="640080"/>
          </a:xfrm>
          <a:prstGeom prst="line">
            <a:avLst/>
          </a:prstGeom>
          <a:ln w="25400">
            <a:solidFill>
              <a:srgbClr val="475569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9555480" y="4846320"/>
            <a:ext cx="2057400" cy="1051560"/>
          </a:xfrm>
          <a:prstGeom prst="roundRect">
            <a:avLst>
              <a:gd name="adj" fmla="val 15000"/>
            </a:avLst>
          </a:prstGeom>
          <a:solidFill>
            <a:srgbClr val="DCFCE7"/>
          </a:solidFill>
          <a:ln w="15875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0F172A"/>
                </a:solidFill>
                <a:latin typeface="Segoe UI Semibold"/>
              </a:rPr>
              <a:t>Status + logs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tray dot, --status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595360" y="4023360"/>
            <a:ext cx="960120" cy="105156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82296" cy="566928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789920" cy="68580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3000" b="0">
                <a:solidFill>
                  <a:srgbClr val="0F172A"/>
                </a:solidFill>
                <a:latin typeface="Segoe UI Semibold"/>
              </a:rPr>
              <a:t>One sync pass, step by step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24128"/>
            <a:ext cx="1078992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475569"/>
                </a:solidFill>
                <a:latin typeface="Segoe UI"/>
              </a:rPr>
              <a:t>Triggered by a local change (after 5 s of quiet), every 30 s, or Sync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>
                <a:solidFill>
                  <a:srgbClr val="94A3B8"/>
                </a:solidFill>
                <a:latin typeface="Segoe UI"/>
              </a:rPr>
              <a:t>Sync Agent — How it works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5912" y="6400800"/>
            <a:ext cx="914400" cy="3200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1000" b="0">
                <a:solidFill>
                  <a:srgbClr val="94A3B8"/>
                </a:solidFill>
                <a:latin typeface="Segoe UI"/>
              </a:rPr>
              <a:t>8</a:t>
            </a:r>
          </a:p>
        </p:txBody>
      </p:sp>
      <p:sp>
        <p:nvSpPr>
          <p:cNvPr id="7" name="Rectangle 6"/>
          <p:cNvSpPr/>
          <p:nvPr/>
        </p:nvSpPr>
        <p:spPr>
          <a:xfrm>
            <a:off x="1234440" y="2395728"/>
            <a:ext cx="9692640" cy="5486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88719" y="2011680"/>
            <a:ext cx="822960" cy="82296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200" b="0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017520"/>
            <a:ext cx="210312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0F172A"/>
                </a:solidFill>
                <a:latin typeface="Segoe UI Semibold"/>
              </a:rPr>
              <a:t>Scan folder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520440"/>
            <a:ext cx="2103120" cy="14630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50" b="0">
                <a:solidFill>
                  <a:srgbClr val="475569"/>
                </a:solidFill>
                <a:latin typeface="Segoe UI"/>
              </a:rPr>
              <a:t>Fingerprint each file (SHA-256). Unchanged files reuse their hash.</a:t>
            </a:r>
          </a:p>
        </p:txBody>
      </p:sp>
      <p:sp>
        <p:nvSpPr>
          <p:cNvPr id="11" name="Oval 10"/>
          <p:cNvSpPr/>
          <p:nvPr/>
        </p:nvSpPr>
        <p:spPr>
          <a:xfrm>
            <a:off x="3429000" y="2011680"/>
            <a:ext cx="822960" cy="82296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200" b="0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017520"/>
            <a:ext cx="210312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0F172A"/>
                </a:solidFill>
                <a:latin typeface="Segoe UI Semibold"/>
              </a:rPr>
              <a:t>List S3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8920" y="3520440"/>
            <a:ext cx="2103120" cy="14630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50" b="0">
                <a:solidFill>
                  <a:srgbClr val="475569"/>
                </a:solidFill>
                <a:latin typeface="Segoe UI"/>
              </a:rPr>
              <a:t>Read every object under the prefix with its version tag (ETag).</a:t>
            </a:r>
          </a:p>
        </p:txBody>
      </p:sp>
      <p:sp>
        <p:nvSpPr>
          <p:cNvPr id="14" name="Oval 13"/>
          <p:cNvSpPr/>
          <p:nvPr/>
        </p:nvSpPr>
        <p:spPr>
          <a:xfrm>
            <a:off x="5669280" y="2011680"/>
            <a:ext cx="822960" cy="82296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200" b="0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3017520"/>
            <a:ext cx="210312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0F172A"/>
                </a:solidFill>
                <a:latin typeface="Segoe UI Semibold"/>
              </a:rPr>
              <a:t>Safety check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3520440"/>
            <a:ext cx="2103120" cy="14630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50" b="0">
                <a:solidFill>
                  <a:srgbClr val="475569"/>
                </a:solidFill>
                <a:latin typeface="Segoe UI"/>
              </a:rPr>
              <a:t>Skip Windows-invalid, linked or case-clashing names.</a:t>
            </a:r>
          </a:p>
        </p:txBody>
      </p:sp>
      <p:sp>
        <p:nvSpPr>
          <p:cNvPr id="17" name="Oval 16"/>
          <p:cNvSpPr/>
          <p:nvPr/>
        </p:nvSpPr>
        <p:spPr>
          <a:xfrm>
            <a:off x="7909560" y="2011680"/>
            <a:ext cx="822960" cy="82296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200" b="0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480" y="3017520"/>
            <a:ext cx="210312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0F172A"/>
                </a:solidFill>
                <a:latin typeface="Segoe UI Semibold"/>
              </a:rPr>
              <a:t>Decide &amp; act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69480" y="3520440"/>
            <a:ext cx="2103120" cy="14630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50" b="0">
                <a:solidFill>
                  <a:srgbClr val="475569"/>
                </a:solidFill>
                <a:latin typeface="Segoe UI"/>
              </a:rPr>
              <a:t>Compare both sides with the baseline: upload, download, skip or conflict.</a:t>
            </a:r>
          </a:p>
        </p:txBody>
      </p:sp>
      <p:sp>
        <p:nvSpPr>
          <p:cNvPr id="20" name="Oval 19"/>
          <p:cNvSpPr/>
          <p:nvPr/>
        </p:nvSpPr>
        <p:spPr>
          <a:xfrm>
            <a:off x="10149840" y="2011680"/>
            <a:ext cx="822960" cy="822960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200" b="0">
                <a:solidFill>
                  <a:srgbClr val="FFFFFF"/>
                </a:solidFill>
                <a:latin typeface="Segoe UI Semibold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0" y="3017520"/>
            <a:ext cx="210312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0F172A"/>
                </a:solidFill>
                <a:latin typeface="Segoe UI Semibold"/>
              </a:rPr>
              <a:t>Save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09760" y="3520440"/>
            <a:ext cx="2103120" cy="14630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50" b="0">
                <a:solidFill>
                  <a:srgbClr val="475569"/>
                </a:solidFill>
                <a:latin typeface="Segoe UI"/>
              </a:rPr>
              <a:t>Store the new baseline; publish status for the tray and --status.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257800"/>
            <a:ext cx="11064240" cy="77724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0F172A"/>
                </a:solidFill>
                <a:latin typeface="Segoe UI"/>
              </a:rPr>
              <a:t>Changes that arrive during a pass are kept and handled by the next pass. </a:t>
            </a:r>
            <a:r>
              <a:rPr sz="1500" b="0">
                <a:solidFill>
                  <a:srgbClr val="2563EB"/>
                </a:solidFill>
                <a:latin typeface="Segoe UI Semibold"/>
              </a:rPr>
              <a:t>Two passes never run at the same time.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82296" cy="566928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789920" cy="68580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3000" b="0">
                <a:solidFill>
                  <a:srgbClr val="0F172A"/>
                </a:solidFill>
                <a:latin typeface="Segoe UI Semibold"/>
              </a:rPr>
              <a:t>How each file is decided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24128"/>
            <a:ext cx="1078992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475569"/>
                </a:solidFill>
                <a:latin typeface="Segoe UI"/>
              </a:rPr>
              <a:t>Compare both sides with the baseline, never “newest timestamp wins”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>
                <a:solidFill>
                  <a:srgbClr val="94A3B8"/>
                </a:solidFill>
                <a:latin typeface="Segoe UI"/>
              </a:rPr>
              <a:t>Sync Agent — How it works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5912" y="6400800"/>
            <a:ext cx="914400" cy="3200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1000" b="0">
                <a:solidFill>
                  <a:srgbClr val="94A3B8"/>
                </a:solidFill>
                <a:latin typeface="Segoe UI"/>
              </a:rP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291840"/>
            <a:ext cx="1737360" cy="822960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15875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0F172A"/>
                </a:solidFill>
                <a:latin typeface="Segoe UI Semibold"/>
              </a:rPr>
              <a:t>Each file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286000" y="3703320"/>
            <a:ext cx="502920" cy="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Diamond 8"/>
          <p:cNvSpPr/>
          <p:nvPr/>
        </p:nvSpPr>
        <p:spPr>
          <a:xfrm>
            <a:off x="2788920" y="2697480"/>
            <a:ext cx="2743200" cy="2011680"/>
          </a:xfrm>
          <a:prstGeom prst="diamond">
            <a:avLst/>
          </a:prstGeom>
          <a:solidFill>
            <a:srgbClr val="FEF3C7"/>
          </a:solidFill>
          <a:ln w="1587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0F172A"/>
                </a:solidFill>
                <a:latin typeface="Segoe UI Semibold"/>
              </a:rPr>
              <a:t>What changed since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0F172A"/>
                </a:solidFill>
                <a:latin typeface="Segoe UI Semibold"/>
              </a:rPr>
              <a:t>the last sync?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46520" y="1691640"/>
            <a:ext cx="5166360" cy="731520"/>
          </a:xfrm>
          <a:prstGeom prst="roundRect">
            <a:avLst>
              <a:gd name="adj" fmla="val 15000"/>
            </a:avLst>
          </a:prstGeom>
          <a:solidFill>
            <a:srgbClr val="DCFCE7"/>
          </a:solidFill>
          <a:ln w="15875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91640"/>
            <a:ext cx="2148840" cy="73152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475569"/>
                </a:solidFill>
                <a:latin typeface="Segoe UI"/>
              </a:rPr>
              <a:t>Nothing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1691640"/>
            <a:ext cx="2880360" cy="73152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0F172A"/>
                </a:solidFill>
                <a:latin typeface="Segoe UI Semibold"/>
              </a:rPr>
              <a:t>Skip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5532120" y="2057400"/>
            <a:ext cx="914400" cy="1645920"/>
          </a:xfrm>
          <a:prstGeom prst="line">
            <a:avLst/>
          </a:prstGeom>
          <a:ln w="22225">
            <a:solidFill>
              <a:srgbClr val="15803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446520" y="2587752"/>
            <a:ext cx="5166360" cy="731520"/>
          </a:xfrm>
          <a:prstGeom prst="roundRect">
            <a:avLst>
              <a:gd name="adj" fmla="val 15000"/>
            </a:avLst>
          </a:prstGeom>
          <a:solidFill>
            <a:srgbClr val="DBEAFE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2587752"/>
            <a:ext cx="2148840" cy="73152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475569"/>
                </a:solidFill>
                <a:latin typeface="Segoe UI"/>
              </a:rPr>
              <a:t>Edited / new locally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2587752"/>
            <a:ext cx="2880360" cy="73152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0F172A"/>
                </a:solidFill>
                <a:latin typeface="Segoe UI Semibold"/>
              </a:rPr>
              <a:t>Upload (conditional write)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5532120" y="2953512"/>
            <a:ext cx="914400" cy="749808"/>
          </a:xfrm>
          <a:prstGeom prst="line">
            <a:avLst/>
          </a:prstGeom>
          <a:ln w="22225">
            <a:solidFill>
              <a:srgbClr val="2563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446520" y="3483864"/>
            <a:ext cx="5166360" cy="731520"/>
          </a:xfrm>
          <a:prstGeom prst="roundRect">
            <a:avLst>
              <a:gd name="adj" fmla="val 15000"/>
            </a:avLst>
          </a:prstGeom>
          <a:solidFill>
            <a:srgbClr val="DBEAFE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3483864"/>
            <a:ext cx="2148840" cy="73152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475569"/>
                </a:solidFill>
                <a:latin typeface="Segoe UI"/>
              </a:rPr>
              <a:t>Edited / new in S3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3483864"/>
            <a:ext cx="2880360" cy="73152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0F172A"/>
                </a:solidFill>
                <a:latin typeface="Segoe UI Semibold"/>
              </a:rPr>
              <a:t>Download (atomic replace)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532120" y="3703320"/>
            <a:ext cx="914400" cy="146304"/>
          </a:xfrm>
          <a:prstGeom prst="line">
            <a:avLst/>
          </a:prstGeom>
          <a:ln w="22225">
            <a:solidFill>
              <a:srgbClr val="2563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446520" y="4379976"/>
            <a:ext cx="5166360" cy="731520"/>
          </a:xfrm>
          <a:prstGeom prst="roundRect">
            <a:avLst>
              <a:gd name="adj" fmla="val 15000"/>
            </a:avLst>
          </a:prstGeom>
          <a:solidFill>
            <a:srgbClr val="FEE2E2"/>
          </a:solidFill>
          <a:ln w="15875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0" y="4379976"/>
            <a:ext cx="2148840" cy="73152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475569"/>
                </a:solidFill>
                <a:latin typeface="Segoe UI"/>
              </a:rPr>
              <a:t>Changed on both sides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4379976"/>
            <a:ext cx="2880360" cy="73152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0F172A"/>
                </a:solidFill>
                <a:latin typeface="Segoe UI Semibold"/>
              </a:rPr>
              <a:t>Conflict: both copies kept, reported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532120" y="3703320"/>
            <a:ext cx="914400" cy="1042416"/>
          </a:xfrm>
          <a:prstGeom prst="line">
            <a:avLst/>
          </a:prstGeom>
          <a:ln w="22225">
            <a:solidFill>
              <a:srgbClr val="B91C1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446520" y="5276088"/>
            <a:ext cx="5166360" cy="731520"/>
          </a:xfrm>
          <a:prstGeom prst="roundRect">
            <a:avLst>
              <a:gd name="adj" fmla="val 15000"/>
            </a:avLst>
          </a:prstGeom>
          <a:solidFill>
            <a:srgbClr val="FEF3C7"/>
          </a:solidFill>
          <a:ln w="1587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0" y="5276088"/>
            <a:ext cx="2148840" cy="73152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475569"/>
                </a:solidFill>
                <a:latin typeface="Segoe UI"/>
              </a:rPr>
              <a:t>Deleted on one side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0" y="5276088"/>
            <a:ext cx="2880360" cy="73152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0F172A"/>
                </a:solidFill>
                <a:latin typeface="Segoe UI Semibold"/>
              </a:rPr>
              <a:t>Keep the other copy and remember (default)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532120" y="3703320"/>
            <a:ext cx="914400" cy="1938528"/>
          </a:xfrm>
          <a:prstGeom prst="line">
            <a:avLst/>
          </a:prstGeom>
          <a:ln w="22225">
            <a:solidFill>
              <a:srgbClr val="B4530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48640" y="5074920"/>
            <a:ext cx="5669280" cy="10972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475569"/>
                </a:solidFill>
                <a:latin typeface="Segoe UI"/>
              </a:rPr>
              <a:t>First sync is cautious: a file already on both sides is a conflict, even if identical.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475569"/>
                </a:solidFill>
                <a:latin typeface="Segoe UI"/>
              </a:rPr>
              <a:t>Deletions are copied only when the matching setting is turned on, and only if the other copy is unchanged.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82296" cy="566928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789920" cy="68580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3000" b="0">
                <a:solidFill>
                  <a:srgbClr val="0F172A"/>
                </a:solidFill>
                <a:latin typeface="Segoe UI Semibold"/>
              </a:rPr>
              <a:t>Safety guarantees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24128"/>
            <a:ext cx="1078992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475569"/>
                </a:solidFill>
                <a:latin typeface="Segoe UI"/>
              </a:rPr>
              <a:t>Designed so that a sync tool can never be the reason data is lost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>
                <a:solidFill>
                  <a:srgbClr val="94A3B8"/>
                </a:solidFill>
                <a:latin typeface="Segoe UI"/>
              </a:rPr>
              <a:t>Sync Agent — How it works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5912" y="6400800"/>
            <a:ext cx="914400" cy="3200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1000" b="0">
                <a:solidFill>
                  <a:srgbClr val="94A3B8"/>
                </a:solidFill>
                <a:latin typeface="Segoe UI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91640"/>
            <a:ext cx="3566160" cy="19659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691640"/>
            <a:ext cx="91440" cy="1965960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1920240"/>
            <a:ext cx="315468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0F172A"/>
                </a:solidFill>
                <a:latin typeface="Segoe UI Semibold"/>
              </a:rPr>
              <a:t>Conditional uploads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2423160"/>
            <a:ext cx="3154680" cy="11887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475569"/>
                </a:solidFill>
                <a:latin typeface="Segoe UI"/>
              </a:rPr>
              <a:t>S3 only accepts the write if the object is still the version we saw. No silent overwrite.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79" y="1691640"/>
            <a:ext cx="3566160" cy="19659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97679" y="1691640"/>
            <a:ext cx="91440" cy="1965960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1999" y="1920240"/>
            <a:ext cx="315468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0F172A"/>
                </a:solidFill>
                <a:latin typeface="Segoe UI Semibold"/>
              </a:rPr>
              <a:t>Atomic downloads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1999" y="2423160"/>
            <a:ext cx="3154680" cy="11887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475569"/>
                </a:solidFill>
                <a:latin typeface="Segoe UI"/>
              </a:rPr>
              <a:t>Written to a temporary file, local file re-checked, then swapped in one step.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19" y="1691640"/>
            <a:ext cx="3566160" cy="19659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19" y="1691640"/>
            <a:ext cx="91440" cy="1965960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1920240"/>
            <a:ext cx="315468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0F172A"/>
                </a:solidFill>
                <a:latin typeface="Segoe UI Semibold"/>
              </a:rPr>
              <a:t>Conflicts preserved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2423160"/>
            <a:ext cx="3154680" cy="11887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475569"/>
                </a:solidFill>
                <a:latin typeface="Segoe UI"/>
              </a:rPr>
              <a:t>Both copies stay untouched and are listed until the user resolves them.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886200"/>
            <a:ext cx="3566160" cy="19659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3886200"/>
            <a:ext cx="91440" cy="1965960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59" y="4114800"/>
            <a:ext cx="315468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0F172A"/>
                </a:solidFill>
                <a:latin typeface="Segoe UI Semibold"/>
              </a:rPr>
              <a:t>Deletions off by default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59" y="4617720"/>
            <a:ext cx="3154680" cy="11887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475569"/>
                </a:solidFill>
                <a:latin typeface="Segoe UI"/>
              </a:rPr>
              <a:t>Opt-in, baseline-confirmed, and only if the other copy is unchanged.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79" y="3886200"/>
            <a:ext cx="3566160" cy="19659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97679" y="3886200"/>
            <a:ext cx="91440" cy="1965960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1999" y="4114800"/>
            <a:ext cx="315468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0F172A"/>
                </a:solidFill>
                <a:latin typeface="Segoe UI Semibold"/>
              </a:rPr>
              <a:t>Unsafe names blocked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1999" y="4617720"/>
            <a:ext cx="3154680" cy="11887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475569"/>
                </a:solidFill>
                <a:latin typeface="Segoe UI"/>
              </a:rPr>
              <a:t>Reserved names, “..”, links/junctions and case-only clashes are skipped.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19" y="3886200"/>
            <a:ext cx="3566160" cy="19659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046719" y="3886200"/>
            <a:ext cx="91440" cy="1965960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21040" y="4114800"/>
            <a:ext cx="315468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0F172A"/>
                </a:solidFill>
                <a:latin typeface="Segoe UI Semibold"/>
              </a:rPr>
              <a:t>No secrets in logs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4617720"/>
            <a:ext cx="3154680" cy="11887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475569"/>
                </a:solidFill>
                <a:latin typeface="Segoe UI"/>
              </a:rPr>
              <a:t>Only error types are logged; settings never contain keys.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475569"/>
                </a:solidFill>
                <a:latin typeface="Segoe UI"/>
              </a:rPr>
              <a:t>Still recommended: S3 bucket versioning and an independent backup. Sync is not backup.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82296" cy="566928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789920" cy="68580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3000" b="0">
                <a:solidFill>
                  <a:srgbClr val="0F172A"/>
                </a:solidFill>
                <a:latin typeface="Segoe UI Semibold"/>
              </a:rPr>
              <a:t>Everyday 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24128"/>
            <a:ext cx="1078992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475569"/>
                </a:solidFill>
                <a:latin typeface="Segoe UI"/>
              </a:rPr>
              <a:t>Everything is one right-click away in the system tray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>
                <a:solidFill>
                  <a:srgbClr val="94A3B8"/>
                </a:solidFill>
                <a:latin typeface="Segoe UI"/>
              </a:rPr>
              <a:t>Sync Agent — How it works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5912" y="6400800"/>
            <a:ext cx="914400" cy="3200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1000" b="0">
                <a:solidFill>
                  <a:srgbClr val="94A3B8"/>
                </a:solidFill>
                <a:latin typeface="Segoe UI"/>
              </a:rPr>
              <a:t>11</a:t>
            </a:r>
          </a:p>
        </p:txBody>
      </p:sp>
      <p:pic>
        <p:nvPicPr>
          <p:cNvPr id="7" name="Picture 6" descr="tray-men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91640"/>
            <a:ext cx="3911203" cy="3429000"/>
          </a:xfrm>
          <a:prstGeom prst="rect">
            <a:avLst/>
          </a:prstGeom>
          <a:ln w="12700">
            <a:solidFill>
              <a:srgbClr val="CBD5E1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48640" y="5212080"/>
            <a:ext cx="3931920" cy="8229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50" b="0">
                <a:solidFill>
                  <a:srgbClr val="475569"/>
                </a:solidFill>
                <a:latin typeface="Segoe UI"/>
              </a:rPr>
              <a:t>Status and identity windows stay open until you press Enter.</a:t>
            </a:r>
          </a:p>
        </p:txBody>
      </p:sp>
      <p:pic>
        <p:nvPicPr>
          <p:cNvPr id="9" name="Picture 8" descr="tray-stat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737360"/>
            <a:ext cx="6675120" cy="171934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92040" y="3520440"/>
            <a:ext cx="6675120" cy="4114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0">
                <a:solidFill>
                  <a:srgbClr val="0F172A"/>
                </a:solidFill>
                <a:latin typeface="Segoe UI Semibold"/>
              </a:rPr>
              <a:t>The tray icon is the health indicator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92040" y="3931920"/>
            <a:ext cx="6675120" cy="9144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0">
                <a:solidFill>
                  <a:srgbClr val="475569"/>
                </a:solidFill>
                <a:latin typeface="Segoe UI"/>
              </a:rPr>
              <a:t>Amber dot: a sync pass is running.  Red dot: conflicts or errors (with a Windows notification).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0">
                <a:solidFill>
                  <a:srgbClr val="475569"/>
                </a:solidFill>
                <a:latin typeface="Segoe UI"/>
              </a:rPr>
              <a:t>Hover for a summary; Show status for the details.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92040" y="4983480"/>
            <a:ext cx="6675120" cy="1143000"/>
          </a:xfrm>
          <a:prstGeom prst="roundRect">
            <a:avLst>
              <a:gd name="adj" fmla="val 6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500" b="0">
                <a:solidFill>
                  <a:srgbClr val="A5F3FC"/>
                </a:solidFill>
                <a:latin typeface="Consolas"/>
              </a:rPr>
              <a:t>SyncAgent.exe </a:t>
            </a:r>
            <a:r>
              <a:rPr sz="1500" b="0">
                <a:solidFill>
                  <a:srgbClr val="FFFFFF"/>
                </a:solidFill>
                <a:latin typeface="Consolas"/>
              </a:rPr>
              <a:t>--status  --logs  --reconfigure  --stop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94A3B8"/>
                </a:solidFill>
                <a:latin typeface="Segoe UI"/>
              </a:rPr>
              <a:t>Same actions from a terminal, for administrators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82296" cy="566928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789920" cy="68580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3000" b="0">
                <a:solidFill>
                  <a:srgbClr val="0F172A"/>
                </a:solidFill>
                <a:latin typeface="Segoe UI Semibold"/>
              </a:rPr>
              <a:t>Key settings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24128"/>
            <a:ext cx="1078992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475569"/>
                </a:solidFill>
                <a:latin typeface="Segoe UI"/>
              </a:rPr>
              <a:t>Stored per user in %LOCALAPPDATA%\SyncAgent\config.json, never with credentials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>
                <a:solidFill>
                  <a:srgbClr val="94A3B8"/>
                </a:solidFill>
                <a:latin typeface="Segoe UI"/>
              </a:rPr>
              <a:t>Sync Agent — How it works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5912" y="6400800"/>
            <a:ext cx="914400" cy="3200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1000" b="0">
                <a:solidFill>
                  <a:srgbClr val="94A3B8"/>
                </a:solidFill>
                <a:latin typeface="Segoe UI"/>
              </a:rPr>
              <a:t>12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91640"/>
          <a:ext cx="1106424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2194560"/>
                <a:gridCol w="5303520"/>
              </a:tblGrid>
              <a:tr h="411480">
                <a:tc>
                  <a:txBody>
                    <a:bodyPr wrap="square" anchor="ctr" lIns="73152" rIns="73152" tIns="36576" bIns="36576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FFFFFF"/>
                          </a:solidFill>
                          <a:latin typeface="Segoe UI Semibold"/>
                        </a:rPr>
                        <a:t>Setting</a:t>
                      </a:r>
                    </a:p>
                  </a:txBody>
                  <a:tcPr marL="137160" marR="137160">
                    <a:solidFill>
                      <a:srgbClr val="2563EB"/>
                    </a:solidFill>
                  </a:tcPr>
                </a:tc>
                <a:tc>
                  <a:txBody>
                    <a:bodyPr wrap="square" anchor="ctr" lIns="73152" rIns="73152" tIns="36576" bIns="36576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FFFFFF"/>
                          </a:solidFill>
                          <a:latin typeface="Segoe UI Semibold"/>
                        </a:rPr>
                        <a:t>Default</a:t>
                      </a:r>
                    </a:p>
                  </a:txBody>
                  <a:tcPr marL="137160" marR="137160">
                    <a:solidFill>
                      <a:srgbClr val="2563EB"/>
                    </a:solidFill>
                  </a:tcPr>
                </a:tc>
                <a:tc>
                  <a:txBody>
                    <a:bodyPr wrap="square" anchor="ctr" lIns="73152" rIns="73152" tIns="36576" bIns="36576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FFFFFF"/>
                          </a:solidFill>
                          <a:latin typeface="Segoe UI Semibold"/>
                        </a:rPr>
                        <a:t>Meaning</a:t>
                      </a:r>
                    </a:p>
                  </a:txBody>
                  <a:tcPr marL="137160" marR="137160">
                    <a:solidFill>
                      <a:srgbClr val="2563EB"/>
                    </a:solidFill>
                  </a:tcPr>
                </a:tc>
              </a:tr>
              <a:tr h="411480">
                <a:tc>
                  <a:txBody>
                    <a:bodyPr wrap="square" anchor="ctr" lIns="73152" rIns="73152" tIns="36576" bIns="36576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0F172A"/>
                          </a:solidFill>
                          <a:latin typeface="Consolas"/>
                        </a:rPr>
                        <a:t>local_path</a:t>
                      </a:r>
                    </a:p>
                  </a:txBody>
                  <a:tcPr marL="137160" marR="137160">
                    <a:solidFill>
                      <a:srgbClr val="F1F5F9"/>
                    </a:solidFill>
                  </a:tcPr>
                </a:tc>
                <a:tc>
                  <a:txBody>
                    <a:bodyPr wrap="square" anchor="ctr" lIns="73152" rIns="73152" tIns="36576" bIns="36576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0F172A"/>
                          </a:solidFill>
                          <a:latin typeface="Segoe UI"/>
                        </a:rPr>
                        <a:t>Sync Agent Data</a:t>
                      </a:r>
                    </a:p>
                  </a:txBody>
                  <a:tcPr marL="137160" marR="137160">
                    <a:solidFill>
                      <a:srgbClr val="F1F5F9"/>
                    </a:solidFill>
                  </a:tcPr>
                </a:tc>
                <a:tc>
                  <a:txBody>
                    <a:bodyPr wrap="square" anchor="ctr" lIns="73152" rIns="73152" tIns="36576" bIns="36576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0F172A"/>
                          </a:solidFill>
                          <a:latin typeface="Segoe UI"/>
                        </a:rPr>
                        <a:t>Folder to keep in sync</a:t>
                      </a:r>
                    </a:p>
                  </a:txBody>
                  <a:tcPr marL="137160" marR="137160"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 wrap="square" anchor="ctr" lIns="73152" rIns="73152" tIns="36576" bIns="36576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0F172A"/>
                          </a:solidFill>
                          <a:latin typeface="Consolas"/>
                        </a:rPr>
                        <a:t>s3_bucket / s3_prefix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36576" bIns="36576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0F172A"/>
                          </a:solidFill>
                          <a:latin typeface="Segoe UI"/>
                        </a:rPr>
                        <a:t>required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36576" bIns="36576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0F172A"/>
                          </a:solidFill>
                          <a:latin typeface="Segoe UI"/>
                        </a:rPr>
                        <a:t>Where in S3 the files live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 tIns="36576" bIns="36576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0F172A"/>
                          </a:solidFill>
                          <a:latin typeface="Consolas"/>
                        </a:rPr>
                        <a:t>auth_method / aws_profile</a:t>
                      </a:r>
                    </a:p>
                  </a:txBody>
                  <a:tcPr marL="137160" marR="137160">
                    <a:solidFill>
                      <a:srgbClr val="F1F5F9"/>
                    </a:solidFill>
                  </a:tcPr>
                </a:tc>
                <a:tc>
                  <a:txBody>
                    <a:bodyPr wrap="square" anchor="ctr" lIns="73152" rIns="73152" tIns="36576" bIns="36576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0F172A"/>
                          </a:solidFill>
                          <a:latin typeface="Segoe UI"/>
                        </a:rPr>
                        <a:t>access_keys</a:t>
                      </a:r>
                    </a:p>
                  </a:txBody>
                  <a:tcPr marL="137160" marR="137160">
                    <a:solidFill>
                      <a:srgbClr val="F1F5F9"/>
                    </a:solidFill>
                  </a:tcPr>
                </a:tc>
                <a:tc>
                  <a:txBody>
                    <a:bodyPr wrap="square" anchor="ctr" lIns="73152" rIns="73152" tIns="36576" bIns="36576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0F172A"/>
                          </a:solidFill>
                          <a:latin typeface="Segoe UI"/>
                        </a:rPr>
                        <a:t>How Sync Agent signs in</a:t>
                      </a:r>
                    </a:p>
                  </a:txBody>
                  <a:tcPr marL="137160" marR="137160"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 wrap="square" anchor="ctr" lIns="73152" rIns="73152" tIns="36576" bIns="36576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0F172A"/>
                          </a:solidFill>
                          <a:latin typeface="Consolas"/>
                        </a:rPr>
                        <a:t>sync_from_s3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36576" bIns="36576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0F172A"/>
                          </a:solidFill>
                          <a:latin typeface="Segoe UI"/>
                        </a:rPr>
                        <a:t>on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36576" bIns="36576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0F172A"/>
                          </a:solidFill>
                          <a:latin typeface="Segoe UI"/>
                        </a:rPr>
                        <a:t>Download changes (off = upload-only backup)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 tIns="36576" bIns="36576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0F172A"/>
                          </a:solidFill>
                          <a:latin typeface="Consolas"/>
                        </a:rPr>
                        <a:t>delete_on_s3 / delete_local</a:t>
                      </a:r>
                    </a:p>
                  </a:txBody>
                  <a:tcPr marL="137160" marR="137160">
                    <a:solidFill>
                      <a:srgbClr val="FEE2E2"/>
                    </a:solidFill>
                  </a:tcPr>
                </a:tc>
                <a:tc>
                  <a:txBody>
                    <a:bodyPr wrap="square" anchor="ctr" lIns="73152" rIns="73152" tIns="36576" bIns="36576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0F172A"/>
                          </a:solidFill>
                          <a:latin typeface="Segoe UI"/>
                        </a:rPr>
                        <a:t>off</a:t>
                      </a:r>
                    </a:p>
                  </a:txBody>
                  <a:tcPr marL="137160" marR="137160">
                    <a:solidFill>
                      <a:srgbClr val="FEE2E2"/>
                    </a:solidFill>
                  </a:tcPr>
                </a:tc>
                <a:tc>
                  <a:txBody>
                    <a:bodyPr wrap="square" anchor="ctr" lIns="73152" rIns="73152" tIns="36576" bIns="36576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0F172A"/>
                          </a:solidFill>
                          <a:latin typeface="Segoe UI"/>
                        </a:rPr>
                        <a:t>Copy deletions (destructive, opt-in)</a:t>
                      </a:r>
                    </a:p>
                  </a:txBody>
                  <a:tcPr marL="137160" marR="137160">
                    <a:solidFill>
                      <a:srgbClr val="FEE2E2"/>
                    </a:solidFill>
                  </a:tcPr>
                </a:tc>
              </a:tr>
              <a:tr h="411480">
                <a:tc>
                  <a:txBody>
                    <a:bodyPr wrap="square" anchor="ctr" lIns="73152" rIns="73152" tIns="36576" bIns="36576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0F172A"/>
                          </a:solidFill>
                          <a:latin typeface="Consolas"/>
                        </a:rPr>
                        <a:t>exclude_patterns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36576" bIns="36576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0F172A"/>
                          </a:solidFill>
                          <a:latin typeface="Segoe UI"/>
                        </a:rPr>
                        <a:t>*.tmp, ~$* …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36576" bIns="36576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0F172A"/>
                          </a:solidFill>
                          <a:latin typeface="Segoe UI"/>
                        </a:rPr>
                        <a:t>Files never synced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 tIns="36576" bIns="36576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0F172A"/>
                          </a:solidFill>
                          <a:latin typeface="Consolas"/>
                        </a:rPr>
                        <a:t>debounce_secs / poll_interval</a:t>
                      </a:r>
                    </a:p>
                  </a:txBody>
                  <a:tcPr marL="137160" marR="137160">
                    <a:solidFill>
                      <a:srgbClr val="F1F5F9"/>
                    </a:solidFill>
                  </a:tcPr>
                </a:tc>
                <a:tc>
                  <a:txBody>
                    <a:bodyPr wrap="square" anchor="ctr" lIns="73152" rIns="73152" tIns="36576" bIns="36576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0F172A"/>
                          </a:solidFill>
                          <a:latin typeface="Segoe UI"/>
                        </a:rPr>
                        <a:t>5 s / 30 s</a:t>
                      </a:r>
                    </a:p>
                  </a:txBody>
                  <a:tcPr marL="137160" marR="137160">
                    <a:solidFill>
                      <a:srgbClr val="F1F5F9"/>
                    </a:solidFill>
                  </a:tcPr>
                </a:tc>
                <a:tc>
                  <a:txBody>
                    <a:bodyPr wrap="square" anchor="ctr" lIns="73152" rIns="73152" tIns="36576" bIns="36576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0F172A"/>
                          </a:solidFill>
                          <a:latin typeface="Segoe UI"/>
                        </a:rPr>
                        <a:t>Quiet time after edits / how often S3 is checked</a:t>
                      </a:r>
                    </a:p>
                  </a:txBody>
                  <a:tcPr marL="137160" marR="137160"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 wrap="square" anchor="ctr" lIns="73152" rIns="73152" tIns="36576" bIns="36576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0F172A"/>
                          </a:solidFill>
                          <a:latin typeface="Consolas"/>
                        </a:rPr>
                        <a:t>transfer_timeout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36576" bIns="36576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0F172A"/>
                          </a:solidFill>
                          <a:latin typeface="Segoe UI"/>
                        </a:rPr>
                        <a:t>120 s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36576" bIns="36576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0F172A"/>
                          </a:solidFill>
                          <a:latin typeface="Segoe UI"/>
                        </a:rPr>
                        <a:t>Abandon a transfer that makes no progress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 tIns="36576" bIns="36576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0F172A"/>
                          </a:solidFill>
                          <a:latin typeface="Consolas"/>
                        </a:rPr>
                        <a:t>autostart / notifications</a:t>
                      </a:r>
                    </a:p>
                  </a:txBody>
                  <a:tcPr marL="137160" marR="137160">
                    <a:solidFill>
                      <a:srgbClr val="F1F5F9"/>
                    </a:solidFill>
                  </a:tcPr>
                </a:tc>
                <a:tc>
                  <a:txBody>
                    <a:bodyPr wrap="square" anchor="ctr" lIns="73152" rIns="73152" tIns="36576" bIns="36576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0F172A"/>
                          </a:solidFill>
                          <a:latin typeface="Segoe UI"/>
                        </a:rPr>
                        <a:t>off / on</a:t>
                      </a:r>
                    </a:p>
                  </a:txBody>
                  <a:tcPr marL="137160" marR="137160">
                    <a:solidFill>
                      <a:srgbClr val="F1F5F9"/>
                    </a:solidFill>
                  </a:tcPr>
                </a:tc>
                <a:tc>
                  <a:txBody>
                    <a:bodyPr wrap="square" anchor="ctr" lIns="73152" rIns="73152" tIns="36576" bIns="36576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0F172A"/>
                          </a:solidFill>
                          <a:latin typeface="Segoe UI"/>
                        </a:rPr>
                        <a:t>Start at sign-in / alert on problems</a:t>
                      </a:r>
                    </a:p>
                  </a:txBody>
                  <a:tcPr marL="137160" marR="137160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475569"/>
                </a:solidFill>
                <a:latin typeface="Segoe UI"/>
              </a:rPr>
              <a:t>Change them with Reconfigure: validated, reviewed, applied with automatic rollback on failure.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82296" cy="566928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789920" cy="68580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3000" b="0">
                <a:solidFill>
                  <a:srgbClr val="0F172A"/>
                </a:solidFill>
                <a:latin typeface="Segoe UI Semibold"/>
              </a:rPr>
              <a:t>Rolling out to many computers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24128"/>
            <a:ext cx="1078992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475569"/>
                </a:solidFill>
                <a:latin typeface="Segoe UI"/>
              </a:rPr>
              <a:t>One prepared settings file replaces the wizard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>
                <a:solidFill>
                  <a:srgbClr val="94A3B8"/>
                </a:solidFill>
                <a:latin typeface="Segoe UI"/>
              </a:rPr>
              <a:t>Sync Agent — How it works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5912" y="6400800"/>
            <a:ext cx="914400" cy="3200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1000" b="0">
                <a:solidFill>
                  <a:srgbClr val="94A3B8"/>
                </a:solidFill>
                <a:latin typeface="Segoe UI"/>
              </a:rP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83080"/>
            <a:ext cx="2377440" cy="1188720"/>
          </a:xfrm>
          <a:prstGeom prst="roundRect">
            <a:avLst>
              <a:gd name="adj" fmla="val 12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900" b="0">
                <a:solidFill>
                  <a:srgbClr val="FFFFFF"/>
                </a:solidFill>
                <a:latin typeface="Segoe UI Semibold"/>
              </a:rPr>
              <a:t>Prepare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250" b="0">
                <a:solidFill>
                  <a:srgbClr val="E0F2FE"/>
                </a:solidFill>
                <a:latin typeface="Segoe UI"/>
              </a:rPr>
              <a:t>edit SyncAgent.config.json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926080" y="2377440"/>
            <a:ext cx="502920" cy="0"/>
          </a:xfrm>
          <a:prstGeom prst="line">
            <a:avLst/>
          </a:prstGeom>
          <a:ln w="31750">
            <a:solidFill>
              <a:srgbClr val="2563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429000" y="1783080"/>
            <a:ext cx="2377440" cy="1188720"/>
          </a:xfrm>
          <a:prstGeom prst="roundRect">
            <a:avLst>
              <a:gd name="adj" fmla="val 12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900" b="0">
                <a:solidFill>
                  <a:srgbClr val="FFFFFF"/>
                </a:solidFill>
                <a:latin typeface="Segoe UI Semibold"/>
              </a:rPr>
              <a:t>Share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250" b="0">
                <a:solidFill>
                  <a:srgbClr val="E0F2FE"/>
                </a:solidFill>
                <a:latin typeface="Segoe UI"/>
              </a:rPr>
              <a:t>USB stick or network share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806440" y="2377440"/>
            <a:ext cx="502920" cy="0"/>
          </a:xfrm>
          <a:prstGeom prst="line">
            <a:avLst/>
          </a:prstGeom>
          <a:ln w="31750">
            <a:solidFill>
              <a:srgbClr val="2563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309359" y="1783080"/>
            <a:ext cx="2377440" cy="1188720"/>
          </a:xfrm>
          <a:prstGeom prst="roundRect">
            <a:avLst>
              <a:gd name="adj" fmla="val 12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900" b="0">
                <a:solidFill>
                  <a:srgbClr val="FFFFFF"/>
                </a:solidFill>
                <a:latin typeface="Segoe UI Semibold"/>
              </a:rPr>
              <a:t>Run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250" b="0">
                <a:solidFill>
                  <a:srgbClr val="E0F2FE"/>
                </a:solidFill>
                <a:latin typeface="Segoe UI"/>
              </a:rPr>
              <a:t>SyncAgentSetup.exe --yes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686800" y="2377440"/>
            <a:ext cx="502919" cy="0"/>
          </a:xfrm>
          <a:prstGeom prst="line">
            <a:avLst/>
          </a:prstGeom>
          <a:ln w="31750">
            <a:solidFill>
              <a:srgbClr val="2563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9189719" y="1783080"/>
            <a:ext cx="2377440" cy="1188720"/>
          </a:xfrm>
          <a:prstGeom prst="roundRect">
            <a:avLst>
              <a:gd name="adj" fmla="val 12000"/>
            </a:avLst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900" b="0">
                <a:solidFill>
                  <a:srgbClr val="FFFFFF"/>
                </a:solidFill>
                <a:latin typeface="Segoe UI Semibold"/>
              </a:rPr>
              <a:t>Done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250" b="0">
                <a:solidFill>
                  <a:srgbClr val="E0F2FE"/>
                </a:solidFill>
                <a:latin typeface="Segoe UI"/>
              </a:rPr>
              <a:t>installed, configured, syncing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291840"/>
            <a:ext cx="3566160" cy="1508760"/>
          </a:xfrm>
          <a:prstGeom prst="roundRect">
            <a:avLst>
              <a:gd name="adj" fmla="val 6000"/>
            </a:avLst>
          </a:prstGeom>
          <a:solidFill>
            <a:srgbClr val="FEF3C7"/>
          </a:solidFill>
          <a:ln w="1587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401568"/>
            <a:ext cx="315468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0">
                <a:solidFill>
                  <a:srgbClr val="B45309"/>
                </a:solidFill>
                <a:latin typeface="Segoe UI Semibold"/>
              </a:rPr>
              <a:t>No credentials in the file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858768"/>
            <a:ext cx="3154680" cy="9144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0F172A"/>
                </a:solidFill>
                <a:latin typeface="Segoe UI"/>
              </a:rPr>
              <a:t>Each PC needs a working AWS profile: SSO, Roles Anywhere or keys.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79" y="3291840"/>
            <a:ext cx="3566160" cy="1508760"/>
          </a:xfrm>
          <a:prstGeom prst="roundRect">
            <a:avLst>
              <a:gd name="adj" fmla="val 6000"/>
            </a:avLst>
          </a:prstGeom>
          <a:solidFill>
            <a:srgbClr val="FEF3C7"/>
          </a:solidFill>
          <a:ln w="1587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6279" y="3401568"/>
            <a:ext cx="315468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0">
                <a:solidFill>
                  <a:srgbClr val="B45309"/>
                </a:solidFill>
                <a:latin typeface="Segoe UI Semibold"/>
              </a:rPr>
              <a:t>Same file = same S3 prefix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26279" y="3858768"/>
            <a:ext cx="3154680" cy="9144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0F172A"/>
                </a:solidFill>
                <a:latin typeface="Segoe UI"/>
              </a:rPr>
              <a:t>PCs sharing a file sync with each other. Use one file per PC for separate areas.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6719" y="3291840"/>
            <a:ext cx="3566160" cy="1508760"/>
          </a:xfrm>
          <a:prstGeom prst="roundRect">
            <a:avLst>
              <a:gd name="adj" fmla="val 6000"/>
            </a:avLst>
          </a:prstGeom>
          <a:solidFill>
            <a:srgbClr val="FEF3C7"/>
          </a:solidFill>
          <a:ln w="1587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5319" y="3401568"/>
            <a:ext cx="315468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0">
                <a:solidFill>
                  <a:srgbClr val="B45309"/>
                </a:solidFill>
                <a:latin typeface="Segoe UI Semibold"/>
              </a:rPr>
              <a:t>Paths must exist everywhere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5319" y="3858768"/>
            <a:ext cx="3154680" cy="9144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0F172A"/>
                </a:solidFill>
                <a:latin typeface="Segoe UI"/>
              </a:rPr>
              <a:t>Use a fixed folder such as C:\Users\Public\…; %USERPROFILE% is not expanded.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029200"/>
            <a:ext cx="11064240" cy="1188720"/>
          </a:xfrm>
          <a:prstGeom prst="roundRect">
            <a:avLst>
              <a:gd name="adj" fmla="val 6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A5F3FC"/>
                </a:solidFill>
                <a:latin typeface="Segoe UI"/>
              </a:rPr>
              <a:t>SyncAgent.config.json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50" b="0">
                <a:solidFill>
                  <a:srgbClr val="FFFFFF"/>
                </a:solidFill>
                <a:latin typeface="Consolas"/>
              </a:rPr>
              <a:t>{ "local_path": "C:\\Users\\Public\\Sync Agent Data", "s3_bucket": "example-company-sync",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50" b="0">
                <a:solidFill>
                  <a:srgbClr val="FFFFFF"/>
                </a:solidFill>
                <a:latin typeface="Consolas"/>
              </a:rPr>
              <a:t>  "s3_prefix": "workstations/office", "auth_method": "sso", "aws_profile": "company-sso", "autostart": true }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82296" cy="566928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789920" cy="68580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3000" b="0">
                <a:solidFill>
                  <a:srgbClr val="0F172A"/>
                </a:solidFill>
                <a:latin typeface="Segoe UI Semibold"/>
              </a:rPr>
              <a:t>Install, upgrade and uninstall safely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24128"/>
            <a:ext cx="1078992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475569"/>
                </a:solidFill>
                <a:latin typeface="Segoe UI"/>
              </a:rPr>
              <a:t>Everything is per user: no services, no admin rights, no system changes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>
                <a:solidFill>
                  <a:srgbClr val="94A3B8"/>
                </a:solidFill>
                <a:latin typeface="Segoe UI"/>
              </a:rPr>
              <a:t>Sync Agent — How it works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5912" y="6400800"/>
            <a:ext cx="914400" cy="3200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1000" b="0">
                <a:solidFill>
                  <a:srgbClr val="94A3B8"/>
                </a:solidFill>
                <a:latin typeface="Segoe UI"/>
              </a:rPr>
              <a:t>14</a:t>
            </a:r>
          </a:p>
        </p:txBody>
      </p:sp>
      <p:sp>
        <p:nvSpPr>
          <p:cNvPr id="7" name="Pentagon 6"/>
          <p:cNvSpPr/>
          <p:nvPr/>
        </p:nvSpPr>
        <p:spPr>
          <a:xfrm>
            <a:off x="548640" y="1691640"/>
            <a:ext cx="2291486" cy="868680"/>
          </a:xfrm>
          <a:prstGeom prst="homePlat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201168" tIns="36576" bIns="36576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Validate</a:t>
            </a:r>
          </a:p>
        </p:txBody>
      </p:sp>
      <p:sp>
        <p:nvSpPr>
          <p:cNvPr id="8" name="Chevron 7"/>
          <p:cNvSpPr/>
          <p:nvPr/>
        </p:nvSpPr>
        <p:spPr>
          <a:xfrm>
            <a:off x="2693822" y="1691640"/>
            <a:ext cx="2291486" cy="868680"/>
          </a:xfrm>
          <a:prstGeom prst="chevron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4048" rIns="201168" tIns="36576" bIns="36576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Copy &amp; test</a:t>
            </a:r>
          </a:p>
        </p:txBody>
      </p:sp>
      <p:sp>
        <p:nvSpPr>
          <p:cNvPr id="9" name="Chevron 8"/>
          <p:cNvSpPr/>
          <p:nvPr/>
        </p:nvSpPr>
        <p:spPr>
          <a:xfrm>
            <a:off x="4839004" y="1691640"/>
            <a:ext cx="2291486" cy="868680"/>
          </a:xfrm>
          <a:prstGeom prst="chevron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4048" rIns="201168" tIns="36576" bIns="36576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Stop agent</a:t>
            </a:r>
          </a:p>
        </p:txBody>
      </p:sp>
      <p:sp>
        <p:nvSpPr>
          <p:cNvPr id="10" name="Chevron 9"/>
          <p:cNvSpPr/>
          <p:nvPr/>
        </p:nvSpPr>
        <p:spPr>
          <a:xfrm>
            <a:off x="6984187" y="1691640"/>
            <a:ext cx="2291486" cy="868680"/>
          </a:xfrm>
          <a:prstGeom prst="chevron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4048" rIns="201168" tIns="36576" bIns="36576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Swap folders</a:t>
            </a:r>
          </a:p>
        </p:txBody>
      </p:sp>
      <p:sp>
        <p:nvSpPr>
          <p:cNvPr id="11" name="Chevron 10"/>
          <p:cNvSpPr/>
          <p:nvPr/>
        </p:nvSpPr>
        <p:spPr>
          <a:xfrm>
            <a:off x="9129369" y="1691640"/>
            <a:ext cx="2291486" cy="868680"/>
          </a:xfrm>
          <a:prstGeom prst="chevron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4048" rIns="201168" tIns="36576" bIns="36576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Add shortcuts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834640"/>
            <a:ext cx="11064240" cy="594360"/>
          </a:xfrm>
          <a:prstGeom prst="roundRect">
            <a:avLst>
              <a:gd name="adj" fmla="val 30000"/>
            </a:avLst>
          </a:prstGeom>
          <a:solidFill>
            <a:srgbClr val="FEE2E2"/>
          </a:solidFill>
          <a:ln w="15875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B91C1C"/>
                </a:solidFill>
                <a:latin typeface="Segoe UI Semibold"/>
              </a:rPr>
              <a:t>Any failure → </a:t>
            </a:r>
            <a:r>
              <a:rPr sz="1500" b="0">
                <a:solidFill>
                  <a:srgbClr val="0F172A"/>
                </a:solidFill>
                <a:latin typeface="Segoe UI"/>
              </a:rPr>
              <a:t>the previous version and its startup entry are restored automatically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749039"/>
            <a:ext cx="5440680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59" y="3886200"/>
            <a:ext cx="493776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B91C1C"/>
                </a:solidFill>
                <a:latin typeface="Segoe UI Semibold"/>
              </a:rPr>
              <a:t>Uninstall removes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59" y="4389120"/>
            <a:ext cx="4937760" cy="16459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450" b="0">
                <a:solidFill>
                  <a:srgbClr val="0F172A"/>
                </a:solidFill>
                <a:latin typeface="Segoe UI"/>
              </a:rPr>
              <a:t>•  Application folder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450" b="0">
                <a:solidFill>
                  <a:srgbClr val="0F172A"/>
                </a:solidFill>
                <a:latin typeface="Segoe UI"/>
              </a:rPr>
              <a:t>•  Start Menu shortcut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450" b="0">
                <a:solidFill>
                  <a:srgbClr val="0F172A"/>
                </a:solidFill>
                <a:latin typeface="Segoe UI"/>
              </a:rPr>
              <a:t>•  Installed apps entry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450" b="0">
                <a:solidFill>
                  <a:srgbClr val="0F172A"/>
                </a:solidFill>
                <a:latin typeface="Segoe UI"/>
              </a:rPr>
              <a:t>•  Start-at-login entry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749039"/>
            <a:ext cx="5440680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3886200"/>
            <a:ext cx="493776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5803D"/>
                </a:solidFill>
                <a:latin typeface="Segoe UI Semibold"/>
              </a:rPr>
              <a:t>Uninstall keeps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4389120"/>
            <a:ext cx="4937760" cy="16459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450" b="0">
                <a:solidFill>
                  <a:srgbClr val="0F172A"/>
                </a:solidFill>
                <a:latin typeface="Segoe UI"/>
              </a:rPr>
              <a:t>•  Your sync folder and everything in S3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450" b="0">
                <a:solidFill>
                  <a:srgbClr val="0F172A"/>
                </a:solidFill>
                <a:latin typeface="Segoe UI"/>
              </a:rPr>
              <a:t>•  Settings, logs and sync history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450" b="0">
                <a:solidFill>
                  <a:srgbClr val="0F172A"/>
                </a:solidFill>
                <a:latin typeface="Segoe UI"/>
              </a:rPr>
              <a:t>•  AWS CLI and AWS profiles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82296" cy="566928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789920" cy="68580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3000" b="0">
                <a:solidFill>
                  <a:srgbClr val="0F172A"/>
                </a:solidFill>
                <a:latin typeface="Segoe UI Semibold"/>
              </a:rPr>
              <a:t>Tested on real Windows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24128"/>
            <a:ext cx="1078992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475569"/>
                </a:solidFill>
                <a:latin typeface="Segoe UI"/>
              </a:rPr>
              <a:t>Automated, native and one-command acceptance checks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>
                <a:solidFill>
                  <a:srgbClr val="94A3B8"/>
                </a:solidFill>
                <a:latin typeface="Segoe UI"/>
              </a:rPr>
              <a:t>Sync Agent — How it works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5912" y="6400800"/>
            <a:ext cx="914400" cy="3200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1000" b="0">
                <a:solidFill>
                  <a:srgbClr val="94A3B8"/>
                </a:solidFill>
                <a:latin typeface="Segoe UI"/>
              </a:rPr>
              <a:t>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9164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755648"/>
            <a:ext cx="3566160" cy="9601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4600" b="0">
                <a:solidFill>
                  <a:srgbClr val="2563EB"/>
                </a:solidFill>
                <a:latin typeface="Segoe UI Semibold"/>
              </a:rPr>
              <a:t>211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697480"/>
            <a:ext cx="3200400" cy="7772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475569"/>
                </a:solidFill>
                <a:latin typeface="Segoe UI"/>
              </a:rPr>
              <a:t>automated tests on
every build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79" y="169164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79" y="1755648"/>
            <a:ext cx="3566160" cy="9601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4600" b="0">
                <a:solidFill>
                  <a:srgbClr val="06B6D4"/>
                </a:solidFill>
                <a:latin typeface="Segoe UI Semibold"/>
              </a:rPr>
              <a:t>20 / 20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59" y="2697480"/>
            <a:ext cx="3200400" cy="7772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475569"/>
                </a:solidFill>
                <a:latin typeface="Segoe UI"/>
              </a:rPr>
              <a:t>acceptance checks passed
on Windows 11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19" y="169164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19" y="1755648"/>
            <a:ext cx="3566160" cy="9601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4600" b="0">
                <a:solidFill>
                  <a:srgbClr val="15803D"/>
                </a:solidFill>
                <a:latin typeface="Segoe UI Semibold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599" y="2697480"/>
            <a:ext cx="3200400" cy="7772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475569"/>
                </a:solidFill>
                <a:latin typeface="Segoe UI"/>
              </a:rPr>
              <a:t>installation blockers found
and fixed during testing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749039"/>
            <a:ext cx="11064240" cy="53035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749039"/>
            <a:ext cx="2011680" cy="530352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0F172A"/>
                </a:solidFill>
                <a:latin typeface="Segoe UI Semibold"/>
              </a:rPr>
              <a:t>Windows 11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0" y="3749039"/>
            <a:ext cx="6035040" cy="530352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475569"/>
                </a:solidFill>
                <a:latin typeface="Segoe UI"/>
              </a:rPr>
              <a:t>Install, upgrade, uninstall and tray verified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98280" y="3840479"/>
            <a:ext cx="2331720" cy="347472"/>
          </a:xfrm>
          <a:prstGeom prst="roundRect">
            <a:avLst>
              <a:gd name="adj" fmla="val 50000"/>
            </a:avLst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Done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370831"/>
            <a:ext cx="11064240" cy="530352"/>
          </a:xfrm>
          <a:prstGeom prst="roundRect">
            <a:avLst>
              <a:gd name="adj" fmla="val 20000"/>
            </a:avLst>
          </a:prstGeom>
          <a:solidFill>
            <a:srgbClr val="FEF3C7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4370831"/>
            <a:ext cx="2011680" cy="530352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0F172A"/>
                </a:solidFill>
                <a:latin typeface="Segoe UI Semibold"/>
              </a:rPr>
              <a:t>Code signing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4370831"/>
            <a:ext cx="6035040" cy="530352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475569"/>
                </a:solidFill>
                <a:latin typeface="Segoe UI"/>
              </a:rPr>
              <a:t>Built into build.bat + CI, proven with a test certificate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98280" y="4462271"/>
            <a:ext cx="2331720" cy="347472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Needs certificate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992624"/>
            <a:ext cx="11064240" cy="530352"/>
          </a:xfrm>
          <a:prstGeom prst="roundRect">
            <a:avLst>
              <a:gd name="adj" fmla="val 20000"/>
            </a:avLst>
          </a:prstGeom>
          <a:solidFill>
            <a:srgbClr val="FEF3C7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4992624"/>
            <a:ext cx="2011680" cy="530352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0F172A"/>
                </a:solidFill>
                <a:latin typeface="Segoe UI Semibold"/>
              </a:rPr>
              <a:t>Windows 10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0" y="4992624"/>
            <a:ext cx="6035040" cy="530352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475569"/>
                </a:solidFill>
                <a:latin typeface="Segoe UI"/>
              </a:rPr>
              <a:t>One command: acceptance-test.ps1 + SyncAgentSetup.exe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98280" y="5084064"/>
            <a:ext cx="2331720" cy="347472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Ready to run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614416"/>
            <a:ext cx="11064240" cy="530352"/>
          </a:xfrm>
          <a:prstGeom prst="roundRect">
            <a:avLst>
              <a:gd name="adj" fmla="val 20000"/>
            </a:avLst>
          </a:prstGeom>
          <a:solidFill>
            <a:srgbClr val="FEF3C7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5614416"/>
            <a:ext cx="2011680" cy="530352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0F172A"/>
                </a:solidFill>
                <a:latin typeface="Segoe UI Semibold"/>
              </a:rPr>
              <a:t>Live S3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5614416"/>
            <a:ext cx="6035040" cy="530352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475569"/>
                </a:solidFill>
                <a:latin typeface="Segoe UI"/>
              </a:rPr>
              <a:t>Real end-to-end sync test, unique prefix, self-cleaning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098280" y="5705855"/>
            <a:ext cx="2331720" cy="347472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Needs valid test key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B1F3A"/>
            </a:gs>
            <a:gs pos="100000">
              <a:srgbClr val="0E3A6B"/>
            </a:gs>
          </a:gsLst>
          <a:lin scaled="0" ang="135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8229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3600" b="0">
                <a:solidFill>
                  <a:srgbClr val="FFFFFF"/>
                </a:solidFill>
                <a:latin typeface="Segoe UI Semibold"/>
              </a:rPr>
              <a:t>Summary</a:t>
            </a:r>
          </a:p>
        </p:txBody>
      </p:sp>
      <p:sp>
        <p:nvSpPr>
          <p:cNvPr id="3" name="Oval 2"/>
          <p:cNvSpPr/>
          <p:nvPr/>
        </p:nvSpPr>
        <p:spPr>
          <a:xfrm>
            <a:off x="822960" y="1737360"/>
            <a:ext cx="502920" cy="50292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Segoe UI Semibold"/>
              </a:rPr>
              <a:t>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08760" y="1691640"/>
            <a:ext cx="5852160" cy="64008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Segoe UI Semibold"/>
              </a:rPr>
              <a:t>Simple  </a:t>
            </a:r>
            <a:r>
              <a:rPr sz="1700" b="0">
                <a:solidFill>
                  <a:srgbClr val="CBD5E1"/>
                </a:solidFill>
                <a:latin typeface="Segoe UI"/>
              </a:rPr>
              <a:t>one installer, four questions, then it lives in the tray</a:t>
            </a:r>
          </a:p>
        </p:txBody>
      </p:sp>
      <p:sp>
        <p:nvSpPr>
          <p:cNvPr id="5" name="Oval 4"/>
          <p:cNvSpPr/>
          <p:nvPr/>
        </p:nvSpPr>
        <p:spPr>
          <a:xfrm>
            <a:off x="822960" y="2606039"/>
            <a:ext cx="502920" cy="50292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Segoe UI Semibold"/>
              </a:rPr>
              <a:t>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8760" y="2560320"/>
            <a:ext cx="5852160" cy="64008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Segoe UI Semibold"/>
              </a:rPr>
              <a:t>Safe  </a:t>
            </a:r>
            <a:r>
              <a:rPr sz="1700" b="0">
                <a:solidFill>
                  <a:srgbClr val="CBD5E1"/>
                </a:solidFill>
                <a:latin typeface="Segoe UI"/>
              </a:rPr>
              <a:t>conditional writes, conflicts preserved, deletions off by default</a:t>
            </a:r>
          </a:p>
        </p:txBody>
      </p:sp>
      <p:sp>
        <p:nvSpPr>
          <p:cNvPr id="7" name="Oval 6"/>
          <p:cNvSpPr/>
          <p:nvPr/>
        </p:nvSpPr>
        <p:spPr>
          <a:xfrm>
            <a:off x="822960" y="3474720"/>
            <a:ext cx="502920" cy="50292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Segoe UI Semibold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3429000"/>
            <a:ext cx="5852160" cy="64008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Segoe UI Semibold"/>
              </a:rPr>
              <a:t>Flexible  </a:t>
            </a:r>
            <a:r>
              <a:rPr sz="1700" b="0">
                <a:solidFill>
                  <a:srgbClr val="CBD5E1"/>
                </a:solidFill>
                <a:latin typeface="Segoe UI"/>
              </a:rPr>
              <a:t>five AWS sign-in methods, one-file rollout to many PCs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4343399"/>
            <a:ext cx="502920" cy="50292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Segoe UI Semibol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4297679"/>
            <a:ext cx="5852160" cy="64008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Segoe UI Semibold"/>
              </a:rPr>
              <a:t>Transparent  </a:t>
            </a:r>
            <a:r>
              <a:rPr sz="1700" b="0">
                <a:solidFill>
                  <a:srgbClr val="CBD5E1"/>
                </a:solidFill>
                <a:latin typeface="Segoe UI"/>
              </a:rPr>
              <a:t>tray status, notifications, --status and logs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26679" y="1691640"/>
            <a:ext cx="3657600" cy="3291840"/>
          </a:xfrm>
          <a:prstGeom prst="roundRect">
            <a:avLst>
              <a:gd name="adj" fmla="val 6000"/>
            </a:avLst>
          </a:prstGeom>
          <a:solidFill>
            <a:srgbClr val="1230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1000" y="1828800"/>
            <a:ext cx="320040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A5F3FC"/>
                </a:solidFill>
                <a:latin typeface="Segoe UI Semibold"/>
              </a:rPr>
              <a:t>Next steps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0" y="2331720"/>
            <a:ext cx="3200400" cy="2560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Segoe UI"/>
              </a:rPr>
              <a:t>•  Run acceptance on Windows 10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Segoe UI"/>
              </a:rPr>
              <a:t>•  New AWS test key → live S3 test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Segoe UI"/>
              </a:rPr>
              <a:t>•  Add a code-signing certificate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Segoe UI"/>
              </a:rPr>
              <a:t>•  GitHub release, then pilot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440680"/>
            <a:ext cx="10515600" cy="7315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3200" b="0">
                <a:solidFill>
                  <a:srgbClr val="FFFFFF"/>
                </a:solidFill>
                <a:latin typeface="Segoe UI Semibold"/>
              </a:rPr>
              <a:t>Questions?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6080760"/>
            <a:ext cx="1051560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Segoe UI"/>
              </a:rPr>
              <a:t>github.com/Abdelkoddous0/sync_agent   ·   docs/ for installation, configuration and architecture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